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77" r:id="rId14"/>
    <p:sldId id="278" r:id="rId15"/>
    <p:sldId id="267" r:id="rId16"/>
    <p:sldId id="268" r:id="rId17"/>
    <p:sldId id="269" r:id="rId18"/>
    <p:sldId id="270" r:id="rId19"/>
    <p:sldId id="271" r:id="rId20"/>
    <p:sldId id="272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73" r:id="rId31"/>
    <p:sldId id="274" r:id="rId32"/>
    <p:sldId id="275" r:id="rId33"/>
    <p:sldId id="290" r:id="rId34"/>
    <p:sldId id="289" r:id="rId35"/>
    <p:sldId id="288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9B3CFB-79AA-43BC-B914-9DB79BD7BCD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76"/>
            <p14:sldId id="277"/>
            <p14:sldId id="278"/>
            <p14:sldId id="267"/>
            <p14:sldId id="268"/>
            <p14:sldId id="269"/>
            <p14:sldId id="270"/>
            <p14:sldId id="271"/>
            <p14:sldId id="272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73"/>
            <p14:sldId id="274"/>
            <p14:sldId id="275"/>
            <p14:sldId id="290"/>
            <p14:sldId id="289"/>
            <p14:sldId id="288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6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06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77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89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59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7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0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87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17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699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146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411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44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418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6ACFC-298E-4429-AEE8-79B773C2CEE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0B004A7-3E4B-4B38-BF70-4D869661E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62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2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3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4.wdp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3038-783D-393F-D5F5-9654C0ADF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4544"/>
            <a:ext cx="11332029" cy="1763485"/>
          </a:xfrm>
        </p:spPr>
        <p:txBody>
          <a:bodyPr/>
          <a:lstStyle/>
          <a:p>
            <a:pPr algn="ctr"/>
            <a:r>
              <a:rPr lang="en-I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Hospital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A14D5-39EE-B66E-CB31-A2E6BC15E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590800"/>
            <a:ext cx="7974390" cy="361405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DBMS Minor Project</a:t>
            </a:r>
          </a:p>
          <a:p>
            <a:pPr algn="ctr"/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Course Code: UCS4001</a:t>
            </a:r>
          </a:p>
          <a:p>
            <a:pPr algn="ctr"/>
            <a:r>
              <a:rPr lang="en-IN" sz="3200" dirty="0">
                <a:solidFill>
                  <a:schemeClr val="tx1"/>
                </a:solidFill>
              </a:rPr>
              <a:t>Academic Session: 2025 – 2026 </a:t>
            </a:r>
            <a:endParaRPr lang="en-IN" sz="3200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Submitted By: Ayush Kumar Singh 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                                Aman Kumar Singh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                      Hardik Tomar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                       Keshav Kumar </a:t>
            </a:r>
          </a:p>
        </p:txBody>
      </p:sp>
    </p:spTree>
    <p:extLst>
      <p:ext uri="{BB962C8B-B14F-4D97-AF65-F5344CB8AC3E}">
        <p14:creationId xmlns:p14="http://schemas.microsoft.com/office/powerpoint/2010/main" val="33794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55F2-3164-5079-14FD-CB8D43AD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tx1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2E0AC2-36BA-1EED-6F17-A1EA5135FF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056" y="1462704"/>
            <a:ext cx="919843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Hospital Management System is a database-based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It manages daily hospital activities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It handles: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Patient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Doctor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Appointments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Billing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91CEF1-CDA9-640F-0BC1-5A97F4BEA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" b="99780" l="1711" r="98756">
                        <a14:foregroundMark x1="17885" y1="35165" x2="17885" y2="35165"/>
                        <a14:foregroundMark x1="22862" y1="31209" x2="12442" y2="34286"/>
                        <a14:foregroundMark x1="12442" y1="34286" x2="20218" y2="34945"/>
                        <a14:foregroundMark x1="20218" y1="34945" x2="40747" y2="20879"/>
                        <a14:foregroundMark x1="40747" y1="20879" x2="41680" y2="18901"/>
                        <a14:foregroundMark x1="30016" y1="20000" x2="19285" y2="26374"/>
                        <a14:foregroundMark x1="19285" y1="26374" x2="30016" y2="24396"/>
                        <a14:foregroundMark x1="33281" y1="58681" x2="33281" y2="58681"/>
                        <a14:foregroundMark x1="20684" y1="51868" x2="20684" y2="51868"/>
                        <a14:foregroundMark x1="13219" y1="30989" x2="46345" y2="13187"/>
                        <a14:foregroundMark x1="46345" y1="13187" x2="6687" y2="10769"/>
                        <a14:foregroundMark x1="6687" y1="10769" x2="45723" y2="2418"/>
                        <a14:foregroundMark x1="45723" y1="2418" x2="57076" y2="7692"/>
                        <a14:foregroundMark x1="57076" y1="7692" x2="41213" y2="13846"/>
                        <a14:foregroundMark x1="41213" y1="13846" x2="39658" y2="25275"/>
                        <a14:foregroundMark x1="39658" y1="25275" x2="31726" y2="21319"/>
                        <a14:foregroundMark x1="31726" y1="21319" x2="33748" y2="27253"/>
                        <a14:foregroundMark x1="35303" y1="29890" x2="45257" y2="42418"/>
                        <a14:foregroundMark x1="70140" y1="47473" x2="66719" y2="25495"/>
                        <a14:foregroundMark x1="66719" y1="25495" x2="68585" y2="27912"/>
                        <a14:foregroundMark x1="65941" y1="31209" x2="59253" y2="54286"/>
                        <a14:foregroundMark x1="59565" y1="61319" x2="74650" y2="21978"/>
                        <a14:foregroundMark x1="74650" y1="21978" x2="75583" y2="22198"/>
                        <a14:foregroundMark x1="71384" y1="47033" x2="76361" y2="39341"/>
                        <a14:foregroundMark x1="76361" y1="39341" x2="69518" y2="66374"/>
                        <a14:foregroundMark x1="69518" y1="66374" x2="68274" y2="68132"/>
                        <a14:foregroundMark x1="79005" y1="30989" x2="85070" y2="14725"/>
                        <a14:foregroundMark x1="84137" y1="10989" x2="67963" y2="7912"/>
                        <a14:foregroundMark x1="67963" y1="7912" x2="59720" y2="11209"/>
                        <a14:foregroundMark x1="59720" y1="11209" x2="59253" y2="21538"/>
                        <a14:foregroundMark x1="59253" y1="21538" x2="56765" y2="31429"/>
                        <a14:foregroundMark x1="56765" y1="31429" x2="56610" y2="30989"/>
                        <a14:foregroundMark x1="29082" y1="83956" x2="35148" y2="89890"/>
                        <a14:foregroundMark x1="35148" y1="89890" x2="44790" y2="93187"/>
                        <a14:foregroundMark x1="44790" y1="93187" x2="49456" y2="84396"/>
                        <a14:foregroundMark x1="49456" y1="84396" x2="51166" y2="75824"/>
                        <a14:foregroundMark x1="74650" y1="78462" x2="62830" y2="86813"/>
                        <a14:foregroundMark x1="76827" y1="69670" x2="85381" y2="57802"/>
                        <a14:foregroundMark x1="86314" y1="56703" x2="89736" y2="46374"/>
                        <a14:foregroundMark x1="89736" y1="44615" x2="93313" y2="33846"/>
                        <a14:foregroundMark x1="93313" y1="33846" x2="93313" y2="33846"/>
                        <a14:foregroundMark x1="91446" y1="33187" x2="86781" y2="25714"/>
                        <a14:foregroundMark x1="33126" y1="65055" x2="33126" y2="65055"/>
                        <a14:foregroundMark x1="33126" y1="65055" x2="39036" y2="56044"/>
                        <a14:foregroundMark x1="39036" y1="56044" x2="31726" y2="57802"/>
                        <a14:foregroundMark x1="31726" y1="57802" x2="36858" y2="62418"/>
                        <a14:foregroundMark x1="25505" y1="86593" x2="13841" y2="60659"/>
                        <a14:foregroundMark x1="13841" y1="60659" x2="12286" y2="48132"/>
                        <a14:foregroundMark x1="12286" y1="48132" x2="15086" y2="44835"/>
                        <a14:foregroundMark x1="23017" y1="80000" x2="28305" y2="91209"/>
                        <a14:foregroundMark x1="28305" y1="91209" x2="34526" y2="96484"/>
                        <a14:foregroundMark x1="34526" y1="96484" x2="43390" y2="98681"/>
                        <a14:foregroundMark x1="43390" y1="98681" x2="59565" y2="83736"/>
                        <a14:foregroundMark x1="83981" y1="83077" x2="83981" y2="83077"/>
                        <a14:foregroundMark x1="92846" y1="74286" x2="92846" y2="74286"/>
                        <a14:foregroundMark x1="95490" y1="61978" x2="95490" y2="61978"/>
                        <a14:foregroundMark x1="95801" y1="75385" x2="95023" y2="85495"/>
                        <a14:foregroundMark x1="95023" y1="85495" x2="95023" y2="85495"/>
                        <a14:foregroundMark x1="97045" y1="96923" x2="97045" y2="96923"/>
                        <a14:foregroundMark x1="92535" y1="6813" x2="92535" y2="6813"/>
                        <a14:foregroundMark x1="28771" y1="2418" x2="28771" y2="2418"/>
                        <a14:foregroundMark x1="5288" y1="23297" x2="5288" y2="23297"/>
                        <a14:foregroundMark x1="5132" y1="59560" x2="5132" y2="59560"/>
                        <a14:foregroundMark x1="6998" y1="68352" x2="6998" y2="68352"/>
                        <a14:foregroundMark x1="1711" y1="66374" x2="1711" y2="66374"/>
                        <a14:foregroundMark x1="11198" y1="68791" x2="11198" y2="68791"/>
                        <a14:foregroundMark x1="19285" y1="659" x2="19285" y2="659"/>
                        <a14:foregroundMark x1="98911" y1="99121" x2="98911" y2="99121"/>
                        <a14:foregroundMark x1="89736" y1="99780" x2="97201" y2="997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302" y="2641990"/>
            <a:ext cx="5467700" cy="346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01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D1A4-E7C2-326A-0FE6-2859D46D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Objective of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0F1EA5-F6B1-086E-A321-D3D68E7998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1504" y="1703092"/>
            <a:ext cx="630040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Reduce data redundancy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Manage patient and doctor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Generate billing and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Understand database normalization </a:t>
            </a:r>
          </a:p>
        </p:txBody>
      </p:sp>
    </p:spTree>
    <p:extLst>
      <p:ext uri="{BB962C8B-B14F-4D97-AF65-F5344CB8AC3E}">
        <p14:creationId xmlns:p14="http://schemas.microsoft.com/office/powerpoint/2010/main" val="4171359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FB7D-01A4-0046-1D63-5E3D4187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solidFill>
                  <a:schemeClr val="tx1"/>
                </a:solidFill>
              </a:rPr>
              <a:t>Database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449084-F03D-DF9E-CF5C-3232FBC3A3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982923"/>
            <a:ext cx="504855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Database Name: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Hospitalmanagement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Created using 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SQL queries are used for operations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C13874-AF5E-D96D-5F13-E6B43BC2E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18" y="3582416"/>
            <a:ext cx="8015549" cy="202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08BC-DDFA-6DD1-6545-3D862281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Tables in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39FED-0FFB-6AE0-D54F-FA3542A6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1436915"/>
            <a:ext cx="8718831" cy="4604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Main Tables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Patient </a:t>
            </a:r>
          </a:p>
          <a:p>
            <a:r>
              <a:rPr lang="en-US" dirty="0">
                <a:solidFill>
                  <a:schemeClr val="tx1"/>
                </a:solidFill>
              </a:rPr>
              <a:t>Doctor </a:t>
            </a:r>
          </a:p>
          <a:p>
            <a:r>
              <a:rPr lang="en-US" dirty="0">
                <a:solidFill>
                  <a:schemeClr val="tx1"/>
                </a:solidFill>
              </a:rPr>
              <a:t>Staff </a:t>
            </a:r>
          </a:p>
          <a:p>
            <a:r>
              <a:rPr lang="en-US" dirty="0">
                <a:solidFill>
                  <a:schemeClr val="tx1"/>
                </a:solidFill>
              </a:rPr>
              <a:t>Room </a:t>
            </a:r>
          </a:p>
          <a:p>
            <a:r>
              <a:rPr lang="en-US" dirty="0">
                <a:solidFill>
                  <a:schemeClr val="tx1"/>
                </a:solidFill>
              </a:rPr>
              <a:t>Appointment </a:t>
            </a:r>
          </a:p>
          <a:p>
            <a:r>
              <a:rPr lang="en-US" dirty="0">
                <a:solidFill>
                  <a:schemeClr val="tx1"/>
                </a:solidFill>
              </a:rPr>
              <a:t>Admission </a:t>
            </a:r>
          </a:p>
          <a:p>
            <a:r>
              <a:rPr lang="en-US" dirty="0">
                <a:solidFill>
                  <a:schemeClr val="tx1"/>
                </a:solidFill>
              </a:rPr>
              <a:t>Medicine </a:t>
            </a:r>
          </a:p>
          <a:p>
            <a:r>
              <a:rPr lang="en-US" dirty="0">
                <a:solidFill>
                  <a:schemeClr val="tx1"/>
                </a:solidFill>
              </a:rPr>
              <a:t>Prescription </a:t>
            </a:r>
          </a:p>
          <a:p>
            <a:r>
              <a:rPr lang="en-US" dirty="0">
                <a:solidFill>
                  <a:schemeClr val="tx1"/>
                </a:solidFill>
              </a:rPr>
              <a:t>Billing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FDF3B-EABC-C3FD-D4AE-60611F3F6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11" b="96094" l="1237" r="98112">
                        <a14:foregroundMark x1="4818" y1="15234" x2="9115" y2="10840"/>
                        <a14:foregroundMark x1="7031" y1="8203" x2="1237" y2="50586"/>
                        <a14:foregroundMark x1="1237" y1="50586" x2="4688" y2="79980"/>
                        <a14:foregroundMark x1="4688" y1="79980" x2="10807" y2="86328"/>
                        <a14:foregroundMark x1="10807" y1="86328" x2="23633" y2="88672"/>
                        <a14:foregroundMark x1="5273" y1="28613" x2="13281" y2="31641"/>
                        <a14:foregroundMark x1="13281" y1="31641" x2="18034" y2="31250"/>
                        <a14:foregroundMark x1="19792" y1="31250" x2="24089" y2="30176"/>
                        <a14:foregroundMark x1="30013" y1="33301" x2="29297" y2="37988"/>
                        <a14:foregroundMark x1="42188" y1="57129" x2="70638" y2="64551"/>
                        <a14:foregroundMark x1="70638" y1="64551" x2="7031" y2="75098"/>
                        <a14:foregroundMark x1="7031" y1="75098" x2="36784" y2="58594"/>
                        <a14:foregroundMark x1="36784" y1="58594" x2="17122" y2="59766"/>
                        <a14:foregroundMark x1="17122" y1="59766" x2="14779" y2="49707"/>
                        <a14:foregroundMark x1="14779" y1="49707" x2="14583" y2="26660"/>
                        <a14:foregroundMark x1="14583" y1="26660" x2="15039" y2="26660"/>
                        <a14:foregroundMark x1="4232" y1="8594" x2="51563" y2="11816"/>
                        <a14:foregroundMark x1="51563" y1="11816" x2="82357" y2="10352"/>
                        <a14:foregroundMark x1="82357" y1="10352" x2="87565" y2="10840"/>
                        <a14:foregroundMark x1="74805" y1="10352" x2="7617" y2="8203"/>
                        <a14:foregroundMark x1="92122" y1="7910" x2="88086" y2="57324"/>
                        <a14:foregroundMark x1="88086" y1="57324" x2="83008" y2="73438"/>
                        <a14:foregroundMark x1="83008" y1="73438" x2="14583" y2="87109"/>
                        <a14:foregroundMark x1="11654" y1="87109" x2="11068" y2="87305"/>
                        <a14:foregroundMark x1="5273" y1="89551" x2="28841" y2="93555"/>
                        <a14:foregroundMark x1="28841" y1="93555" x2="68359" y2="89941"/>
                        <a14:foregroundMark x1="68359" y1="89941" x2="68750" y2="89551"/>
                        <a14:foregroundMark x1="76432" y1="98242" x2="98112" y2="76758"/>
                        <a14:foregroundMark x1="98112" y1="76758" x2="96745" y2="73340"/>
                        <a14:foregroundMark x1="96615" y1="63574" x2="93945" y2="29297"/>
                        <a14:foregroundMark x1="96875" y1="25293" x2="95117" y2="12402"/>
                        <a14:foregroundMark x1="76107" y1="38379" x2="75977" y2="42578"/>
                        <a14:foregroundMark x1="74349" y1="34375" x2="74805" y2="34375"/>
                        <a14:foregroundMark x1="84440" y1="76660" x2="91536" y2="67676"/>
                        <a14:foregroundMark x1="91536" y1="67676" x2="91536" y2="68164"/>
                        <a14:foregroundMark x1="88151" y1="97754" x2="7943" y2="96191"/>
                        <a14:foregroundMark x1="7943" y1="96191" x2="6445" y2="94629"/>
                        <a14:foregroundMark x1="24089" y1="3906" x2="40104" y2="2148"/>
                        <a14:foregroundMark x1="40104" y1="2148" x2="66276" y2="4883"/>
                        <a14:foregroundMark x1="66276" y1="4883" x2="88737" y2="3711"/>
                        <a14:foregroundMark x1="88737" y1="3711" x2="93620" y2="6836"/>
                        <a14:foregroundMark x1="74023" y1="16406" x2="74349" y2="17676"/>
                        <a14:foregroundMark x1="81901" y1="46191" x2="80404" y2="63086"/>
                        <a14:foregroundMark x1="80404" y1="63086" x2="81445" y2="39844"/>
                        <a14:foregroundMark x1="81445" y1="39844" x2="81055" y2="39746"/>
                        <a14:foregroundMark x1="94206" y1="86914" x2="94336" y2="91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814" y="1291668"/>
            <a:ext cx="7037615" cy="469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8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C99B8-5EDE-7818-74D8-63E3D8E4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1.Patient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F9C82-F400-F93C-7F3C-A4F527021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6" y="1480457"/>
            <a:ext cx="4376057" cy="456090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Definition: </a:t>
            </a:r>
            <a:r>
              <a:rPr lang="en-US" dirty="0">
                <a:solidFill>
                  <a:schemeClr val="tx1"/>
                </a:solidFill>
              </a:rPr>
              <a:t>Stores patient information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Fields: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PatientID</a:t>
            </a:r>
            <a:r>
              <a:rPr lang="en-US" dirty="0">
                <a:solidFill>
                  <a:schemeClr val="tx1"/>
                </a:solidFill>
              </a:rPr>
              <a:t> (Primary Key) </a:t>
            </a:r>
          </a:p>
          <a:p>
            <a:r>
              <a:rPr lang="en-US" dirty="0">
                <a:solidFill>
                  <a:schemeClr val="tx1"/>
                </a:solidFill>
              </a:rPr>
              <a:t>Name </a:t>
            </a:r>
          </a:p>
          <a:p>
            <a:r>
              <a:rPr lang="en-US" dirty="0">
                <a:solidFill>
                  <a:schemeClr val="tx1"/>
                </a:solidFill>
              </a:rPr>
              <a:t>Age </a:t>
            </a:r>
          </a:p>
          <a:p>
            <a:r>
              <a:rPr lang="en-US" dirty="0">
                <a:solidFill>
                  <a:schemeClr val="tx1"/>
                </a:solidFill>
              </a:rPr>
              <a:t>Gender </a:t>
            </a:r>
          </a:p>
          <a:p>
            <a:r>
              <a:rPr lang="en-US" dirty="0">
                <a:solidFill>
                  <a:schemeClr val="tx1"/>
                </a:solidFill>
              </a:rPr>
              <a:t>Phone  </a:t>
            </a:r>
          </a:p>
          <a:p>
            <a:r>
              <a:rPr lang="en-US" dirty="0">
                <a:solidFill>
                  <a:schemeClr val="tx1"/>
                </a:solidFill>
              </a:rPr>
              <a:t>Address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AC3F38-8528-2545-3D28-5310BC164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4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E2E7-0795-BE72-5286-F15457F5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4924"/>
            <a:ext cx="3854528" cy="67161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Patient Table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959F3-F312-DF59-3B9F-76F2300E6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057" y="1447800"/>
            <a:ext cx="3965805" cy="391371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CREATE TABLE Patient (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PatientID</a:t>
            </a:r>
            <a:r>
              <a:rPr lang="en-US" sz="1800" dirty="0">
                <a:solidFill>
                  <a:schemeClr val="tx1"/>
                </a:solidFill>
              </a:rPr>
              <a:t> INT PRIMARY KEY,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Name VARCHAR(50) NOT NULL,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Age INT,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Gender VARCHAR(10),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Phone VARCHAR(15) UNIQUE,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Address VARCHAR(100)</a:t>
            </a:r>
          </a:p>
          <a:p>
            <a:r>
              <a:rPr lang="en-US" sz="1800" dirty="0">
                <a:solidFill>
                  <a:schemeClr val="tx1"/>
                </a:solidFill>
              </a:rPr>
              <a:t>);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D800E6F-8892-EDDB-D10E-61F3E0EFB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0" y="1545771"/>
            <a:ext cx="4321002" cy="449559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Explanation</a:t>
            </a:r>
          </a:p>
          <a:p>
            <a:r>
              <a:rPr lang="en-IN" dirty="0" err="1">
                <a:solidFill>
                  <a:schemeClr val="tx1"/>
                </a:solidFill>
              </a:rPr>
              <a:t>PatientID</a:t>
            </a:r>
            <a:r>
              <a:rPr lang="en-IN" dirty="0">
                <a:solidFill>
                  <a:schemeClr val="tx1"/>
                </a:solidFill>
              </a:rPr>
              <a:t> INT PRIMARY KEY → Unique ID for each patient </a:t>
            </a:r>
          </a:p>
          <a:p>
            <a:r>
              <a:rPr lang="en-IN" dirty="0">
                <a:solidFill>
                  <a:schemeClr val="tx1"/>
                </a:solidFill>
              </a:rPr>
              <a:t>Name VARCHAR(50) NOT NULL → Name cannot be empty </a:t>
            </a:r>
          </a:p>
          <a:p>
            <a:r>
              <a:rPr lang="en-IN" dirty="0">
                <a:solidFill>
                  <a:schemeClr val="tx1"/>
                </a:solidFill>
              </a:rPr>
              <a:t>Age INT → Stores patient age </a:t>
            </a:r>
          </a:p>
          <a:p>
            <a:r>
              <a:rPr lang="en-IN" dirty="0">
                <a:solidFill>
                  <a:schemeClr val="tx1"/>
                </a:solidFill>
              </a:rPr>
              <a:t>Gender VARCHAR(10) → Male/Female/Other </a:t>
            </a:r>
          </a:p>
          <a:p>
            <a:r>
              <a:rPr lang="en-IN" dirty="0">
                <a:solidFill>
                  <a:schemeClr val="tx1"/>
                </a:solidFill>
              </a:rPr>
              <a:t>Phone VARCHAR(15) UNIQUE → No duplicate phone numbers allowed </a:t>
            </a:r>
          </a:p>
          <a:p>
            <a:r>
              <a:rPr lang="en-IN" dirty="0">
                <a:solidFill>
                  <a:schemeClr val="tx1"/>
                </a:solidFill>
              </a:rPr>
              <a:t>Address VARCHAR(100) → Patient address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64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BCA284-3F51-478E-8088-5E5F769C9B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376290"/>
              </p:ext>
            </p:extLst>
          </p:nvPr>
        </p:nvGraphicFramePr>
        <p:xfrm>
          <a:off x="348343" y="272143"/>
          <a:ext cx="8969829" cy="6041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972">
                  <a:extLst>
                    <a:ext uri="{9D8B030D-6E8A-4147-A177-3AD203B41FA5}">
                      <a16:colId xmlns:a16="http://schemas.microsoft.com/office/drawing/2014/main" val="2312878518"/>
                    </a:ext>
                  </a:extLst>
                </a:gridCol>
                <a:gridCol w="1494972">
                  <a:extLst>
                    <a:ext uri="{9D8B030D-6E8A-4147-A177-3AD203B41FA5}">
                      <a16:colId xmlns:a16="http://schemas.microsoft.com/office/drawing/2014/main" val="1652332563"/>
                    </a:ext>
                  </a:extLst>
                </a:gridCol>
                <a:gridCol w="1488737">
                  <a:extLst>
                    <a:ext uri="{9D8B030D-6E8A-4147-A177-3AD203B41FA5}">
                      <a16:colId xmlns:a16="http://schemas.microsoft.com/office/drawing/2014/main" val="3960344385"/>
                    </a:ext>
                  </a:extLst>
                </a:gridCol>
                <a:gridCol w="1501204">
                  <a:extLst>
                    <a:ext uri="{9D8B030D-6E8A-4147-A177-3AD203B41FA5}">
                      <a16:colId xmlns:a16="http://schemas.microsoft.com/office/drawing/2014/main" val="1819936088"/>
                    </a:ext>
                  </a:extLst>
                </a:gridCol>
                <a:gridCol w="1494972">
                  <a:extLst>
                    <a:ext uri="{9D8B030D-6E8A-4147-A177-3AD203B41FA5}">
                      <a16:colId xmlns:a16="http://schemas.microsoft.com/office/drawing/2014/main" val="4058794440"/>
                    </a:ext>
                  </a:extLst>
                </a:gridCol>
                <a:gridCol w="1494972">
                  <a:extLst>
                    <a:ext uri="{9D8B030D-6E8A-4147-A177-3AD203B41FA5}">
                      <a16:colId xmlns:a16="http://schemas.microsoft.com/office/drawing/2014/main" val="3607069122"/>
                    </a:ext>
                  </a:extLst>
                </a:gridCol>
              </a:tblGrid>
              <a:tr h="254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 err="1"/>
                        <a:t>PatientID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873931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Noida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338399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Delhi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173961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Greater Noida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424109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Pooja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Ghaziabad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49194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Noida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60669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Delhi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141185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Karan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Meerut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826731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Agra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534004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Ankit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Aligarh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23424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Mathura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107179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Vikas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Delhi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847726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Komal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Noida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300764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Sahil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Faridabad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37526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Nisha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Delhi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1731331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Deepak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Noida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534034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Meena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Ghaziabad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878359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Arjun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Meerut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70754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Agra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642740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Rohit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Delhi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398432"/>
                  </a:ext>
                </a:extLst>
              </a:tr>
              <a:tr h="289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Simran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9876543229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Noida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284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1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611A-1A2E-6DF3-FE3F-2C23B3A6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9714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2.Doctor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EC04-6EF1-02DA-F7B7-B548C1EE4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1513115"/>
            <a:ext cx="4541157" cy="4876799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Definition:</a:t>
            </a:r>
            <a:r>
              <a:rPr lang="en-US" dirty="0" err="1">
                <a:solidFill>
                  <a:schemeClr val="tx1"/>
                </a:solidFill>
              </a:rPr>
              <a:t>Stores</a:t>
            </a:r>
            <a:r>
              <a:rPr lang="en-US" dirty="0">
                <a:solidFill>
                  <a:schemeClr val="tx1"/>
                </a:solidFill>
              </a:rPr>
              <a:t> doctor details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Fields: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DoctorID</a:t>
            </a:r>
            <a:r>
              <a:rPr lang="en-US" dirty="0">
                <a:solidFill>
                  <a:schemeClr val="tx1"/>
                </a:solidFill>
              </a:rPr>
              <a:t> (Primary Key) </a:t>
            </a:r>
          </a:p>
          <a:p>
            <a:r>
              <a:rPr lang="en-US" dirty="0">
                <a:solidFill>
                  <a:schemeClr val="tx1"/>
                </a:solidFill>
              </a:rPr>
              <a:t>Name </a:t>
            </a:r>
          </a:p>
          <a:p>
            <a:r>
              <a:rPr lang="en-US" dirty="0">
                <a:solidFill>
                  <a:schemeClr val="tx1"/>
                </a:solidFill>
              </a:rPr>
              <a:t>Specialization </a:t>
            </a:r>
          </a:p>
          <a:p>
            <a:r>
              <a:rPr lang="en-US" dirty="0">
                <a:solidFill>
                  <a:schemeClr val="tx1"/>
                </a:solidFill>
              </a:rPr>
              <a:t>Phone 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1D985-FADE-B2AD-74E5-1BBE72207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99089" l="391" r="90137">
                        <a14:foregroundMark x1="15723" y1="59049" x2="13086" y2="81510"/>
                        <a14:foregroundMark x1="9180" y1="94466" x2="9180" y2="94466"/>
                        <a14:foregroundMark x1="25879" y1="22786" x2="20605" y2="29818"/>
                        <a14:foregroundMark x1="20605" y1="29818" x2="21777" y2="7422"/>
                        <a14:foregroundMark x1="21777" y1="7422" x2="8691" y2="23763"/>
                        <a14:foregroundMark x1="8691" y1="23763" x2="27539" y2="19661"/>
                        <a14:foregroundMark x1="18359" y1="11849" x2="18359" y2="16667"/>
                        <a14:foregroundMark x1="19531" y1="12760" x2="64746" y2="6120"/>
                        <a14:foregroundMark x1="64746" y1="6120" x2="65234" y2="6120"/>
                        <a14:foregroundMark x1="41992" y1="19466" x2="29004" y2="38997"/>
                        <a14:foregroundMark x1="29004" y1="38997" x2="19434" y2="42708"/>
                        <a14:foregroundMark x1="19434" y1="42708" x2="9766" y2="35547"/>
                        <a14:foregroundMark x1="9766" y1="35547" x2="586" y2="22135"/>
                        <a14:foregroundMark x1="586" y1="22135" x2="5371" y2="8789"/>
                        <a14:foregroundMark x1="5371" y1="8789" x2="17871" y2="6641"/>
                        <a14:foregroundMark x1="17871" y1="6641" x2="10840" y2="4622"/>
                        <a14:foregroundMark x1="6055" y1="36133" x2="10742" y2="42904"/>
                        <a14:foregroundMark x1="10742" y1="42904" x2="10449" y2="33919"/>
                        <a14:foregroundMark x1="10449" y1="33919" x2="2832" y2="16536"/>
                        <a14:foregroundMark x1="2832" y1="16536" x2="977" y2="29948"/>
                        <a14:foregroundMark x1="977" y1="29948" x2="5273" y2="46875"/>
                        <a14:foregroundMark x1="5273" y1="46875" x2="14844" y2="47721"/>
                        <a14:foregroundMark x1="14844" y1="47721" x2="32129" y2="44661"/>
                        <a14:foregroundMark x1="32129" y1="44661" x2="28711" y2="58529"/>
                        <a14:foregroundMark x1="26563" y1="61654" x2="36719" y2="63932"/>
                        <a14:foregroundMark x1="36719" y1="63932" x2="40137" y2="63672"/>
                        <a14:foregroundMark x1="5273" y1="60742" x2="5469" y2="72786"/>
                        <a14:foregroundMark x1="5469" y1="72786" x2="5566" y2="70898"/>
                        <a14:foregroundMark x1="684" y1="2018" x2="30176" y2="2930"/>
                        <a14:foregroundMark x1="30176" y1="2930" x2="47754" y2="2799"/>
                        <a14:foregroundMark x1="47754" y1="2799" x2="85547" y2="3125"/>
                        <a14:foregroundMark x1="85547" y1="3125" x2="68555" y2="3320"/>
                        <a14:foregroundMark x1="86230" y1="3711" x2="73926" y2="22591"/>
                        <a14:foregroundMark x1="49512" y1="53125" x2="51465" y2="59961"/>
                        <a14:foregroundMark x1="51465" y1="59961" x2="62402" y2="61914"/>
                        <a14:foregroundMark x1="62402" y1="61914" x2="66895" y2="53776"/>
                        <a14:foregroundMark x1="66895" y1="53776" x2="46484" y2="53971"/>
                        <a14:foregroundMark x1="46484" y1="53971" x2="60059" y2="55534"/>
                        <a14:foregroundMark x1="60059" y1="55534" x2="69043" y2="52604"/>
                        <a14:foregroundMark x1="69043" y1="52604" x2="69043" y2="52604"/>
                        <a14:foregroundMark x1="66406" y1="34245" x2="76855" y2="38281"/>
                        <a14:foregroundMark x1="76855" y1="38281" x2="85059" y2="44141"/>
                        <a14:foregroundMark x1="85059" y1="44141" x2="90332" y2="51628"/>
                        <a14:foregroundMark x1="90332" y1="51628" x2="88477" y2="60417"/>
                        <a14:foregroundMark x1="88477" y1="60417" x2="82617" y2="69271"/>
                        <a14:foregroundMark x1="82617" y1="69271" x2="56738" y2="75000"/>
                        <a14:foregroundMark x1="56738" y1="75000" x2="45020" y2="72526"/>
                        <a14:foregroundMark x1="45020" y1="72526" x2="44922" y2="71484"/>
                        <a14:foregroundMark x1="67676" y1="42578" x2="63672" y2="52995"/>
                        <a14:foregroundMark x1="63672" y1="52995" x2="62793" y2="52214"/>
                        <a14:foregroundMark x1="37891" y1="53516" x2="44727" y2="42969"/>
                        <a14:foregroundMark x1="44727" y1="42969" x2="44434" y2="43490"/>
                        <a14:foregroundMark x1="33594" y1="56641" x2="33594" y2="56641"/>
                        <a14:foregroundMark x1="35254" y1="55534" x2="32324" y2="55339"/>
                        <a14:foregroundMark x1="24902" y1="80339" x2="37109" y2="78451"/>
                        <a14:foregroundMark x1="37109" y1="78451" x2="10059" y2="80013"/>
                        <a14:foregroundMark x1="10059" y1="80013" x2="21387" y2="75651"/>
                        <a14:foregroundMark x1="21387" y1="75651" x2="32324" y2="74089"/>
                        <a14:foregroundMark x1="32324" y1="74089" x2="30957" y2="72982"/>
                        <a14:foregroundMark x1="195" y1="81510" x2="3027" y2="88346"/>
                        <a14:foregroundMark x1="3027" y1="88346" x2="19434" y2="86784"/>
                        <a14:foregroundMark x1="19434" y1="86784" x2="12793" y2="89648"/>
                        <a14:foregroundMark x1="10840" y1="93880" x2="12109" y2="91276"/>
                        <a14:foregroundMark x1="45605" y1="36458" x2="45605" y2="36458"/>
                        <a14:foregroundMark x1="59375" y1="41667" x2="59375" y2="41667"/>
                        <a14:foregroundMark x1="59375" y1="41667" x2="55078" y2="40169"/>
                        <a14:foregroundMark x1="82129" y1="14648" x2="82129" y2="30924"/>
                        <a14:foregroundMark x1="28027" y1="87435" x2="26465" y2="95898"/>
                        <a14:foregroundMark x1="26465" y1="95898" x2="2832" y2="97266"/>
                        <a14:foregroundMark x1="2832" y1="97266" x2="488" y2="96680"/>
                        <a14:foregroundMark x1="81445" y1="82617" x2="50195" y2="99089"/>
                        <a14:foregroundMark x1="50195" y1="99089" x2="41895" y2="93815"/>
                        <a14:foregroundMark x1="41895" y1="93815" x2="42969" y2="91471"/>
                        <a14:foregroundMark x1="47852" y1="41667" x2="47363" y2="46680"/>
                        <a14:foregroundMark x1="56738" y1="43490" x2="55078" y2="44271"/>
                        <a14:foregroundMark x1="76855" y1="26497" x2="77734" y2="30534"/>
                        <a14:foregroundMark x1="77734" y1="30534" x2="74609" y2="33333"/>
                        <a14:foregroundMark x1="81445" y1="32617" x2="78516" y2="35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57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20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27DCC-1213-AC3C-0401-114FE60E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514925"/>
            <a:ext cx="3820662" cy="7042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Arial Black" panose="020B0A04020102020204" pitchFamily="34" charset="0"/>
              </a:rPr>
              <a:t>Doctor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5F6AB-5D66-F040-C9AC-5B6B36487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endParaRPr lang="en-IN" b="1" dirty="0"/>
          </a:p>
          <a:p>
            <a:endParaRPr lang="en-IN" sz="2000" b="1" dirty="0"/>
          </a:p>
          <a:p>
            <a:pPr marL="0" indent="0">
              <a:buNone/>
            </a:pPr>
            <a:r>
              <a:rPr lang="en-IN" sz="2000" b="1" dirty="0">
                <a:solidFill>
                  <a:schemeClr val="tx1"/>
                </a:solidFill>
              </a:rPr>
              <a:t>Explanation</a:t>
            </a:r>
          </a:p>
          <a:p>
            <a:r>
              <a:rPr lang="en-IN" sz="2000" dirty="0" err="1">
                <a:solidFill>
                  <a:schemeClr val="tx1"/>
                </a:solidFill>
              </a:rPr>
              <a:t>DoctorID</a:t>
            </a:r>
            <a:r>
              <a:rPr lang="en-IN" sz="2000" dirty="0">
                <a:solidFill>
                  <a:schemeClr val="tx1"/>
                </a:solidFill>
              </a:rPr>
              <a:t> INT PRIMARY KEY → Unique ID for each doctor </a:t>
            </a:r>
          </a:p>
          <a:p>
            <a:r>
              <a:rPr lang="en-IN" sz="2000" dirty="0">
                <a:solidFill>
                  <a:schemeClr val="tx1"/>
                </a:solidFill>
              </a:rPr>
              <a:t>Name VARCHAR(50) NOT NULL → Doctor name (cannot be empty) </a:t>
            </a:r>
          </a:p>
          <a:p>
            <a:r>
              <a:rPr lang="en-IN" sz="2000" dirty="0">
                <a:solidFill>
                  <a:schemeClr val="tx1"/>
                </a:solidFill>
              </a:rPr>
              <a:t>Specialization VARCHAR(50) → Field like Cardiologist, Dentist, etc. </a:t>
            </a:r>
          </a:p>
          <a:p>
            <a:r>
              <a:rPr lang="en-IN" sz="2000" dirty="0">
                <a:solidFill>
                  <a:schemeClr val="tx1"/>
                </a:solidFill>
              </a:rPr>
              <a:t>Phone VARCHAR(15) → Contact number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622A7-CC31-296F-BDAA-0850FF72B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100" y="1663701"/>
            <a:ext cx="4112762" cy="369781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CREATE TABLE Doctor (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>
                <a:solidFill>
                  <a:schemeClr val="tx1"/>
                </a:solidFill>
              </a:rPr>
              <a:t>DoctorID</a:t>
            </a:r>
            <a:r>
              <a:rPr lang="en-US" sz="2000" dirty="0">
                <a:solidFill>
                  <a:schemeClr val="tx1"/>
                </a:solidFill>
              </a:rPr>
              <a:t> INT PRIMARY KEY,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Name VARCHAR(50) NOT NULL,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Specialization VARCHAR(50),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Phone VARCHAR(15)</a:t>
            </a:r>
          </a:p>
          <a:p>
            <a:r>
              <a:rPr lang="en-US" sz="2000" dirty="0">
                <a:solidFill>
                  <a:schemeClr val="tx1"/>
                </a:solidFill>
              </a:rPr>
              <a:t>);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28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13665F-EBE5-A61D-E81F-6DAA83EA6E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865180"/>
              </p:ext>
            </p:extLst>
          </p:nvPr>
        </p:nvGraphicFramePr>
        <p:xfrm>
          <a:off x="406400" y="342900"/>
          <a:ext cx="10528300" cy="628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075">
                  <a:extLst>
                    <a:ext uri="{9D8B030D-6E8A-4147-A177-3AD203B41FA5}">
                      <a16:colId xmlns:a16="http://schemas.microsoft.com/office/drawing/2014/main" val="3576694116"/>
                    </a:ext>
                  </a:extLst>
                </a:gridCol>
                <a:gridCol w="2632075">
                  <a:extLst>
                    <a:ext uri="{9D8B030D-6E8A-4147-A177-3AD203B41FA5}">
                      <a16:colId xmlns:a16="http://schemas.microsoft.com/office/drawing/2014/main" val="1093863933"/>
                    </a:ext>
                  </a:extLst>
                </a:gridCol>
                <a:gridCol w="2632075">
                  <a:extLst>
                    <a:ext uri="{9D8B030D-6E8A-4147-A177-3AD203B41FA5}">
                      <a16:colId xmlns:a16="http://schemas.microsoft.com/office/drawing/2014/main" val="293557545"/>
                    </a:ext>
                  </a:extLst>
                </a:gridCol>
                <a:gridCol w="2632075">
                  <a:extLst>
                    <a:ext uri="{9D8B030D-6E8A-4147-A177-3AD203B41FA5}">
                      <a16:colId xmlns:a16="http://schemas.microsoft.com/office/drawing/2014/main" val="75975855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DoctorID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807931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9811111111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55649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Gupta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Neurologist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9822222222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51616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Orthopedic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9833333333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2954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Khan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Dentist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9844444444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3949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Pediatrician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9855555555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43874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Mehta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Dermatologist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9866666666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52038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Jain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9877777777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82913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Physician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9888888888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72577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Roy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Gynecologist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9899999999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43143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 Patel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Surgeon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9800000000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21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07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36C0-3FD9-5902-0067-E6ECAB45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3.Staff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4ECFF-8733-11CF-BB25-DFF35471A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384300"/>
            <a:ext cx="9055100" cy="486409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Description:</a:t>
            </a:r>
            <a:r>
              <a:rPr lang="en-US" sz="2400" dirty="0">
                <a:solidFill>
                  <a:schemeClr val="tx1"/>
                </a:solidFill>
              </a:rPr>
              <a:t> Stores hospital staff details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Attributes: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</a:rPr>
              <a:t>StaffID</a:t>
            </a:r>
            <a:r>
              <a:rPr lang="en-US" sz="2400" dirty="0">
                <a:solidFill>
                  <a:schemeClr val="tx1"/>
                </a:solidFill>
              </a:rPr>
              <a:t> (Primary Key) </a:t>
            </a:r>
          </a:p>
          <a:p>
            <a:r>
              <a:rPr lang="en-US" sz="2400" dirty="0">
                <a:solidFill>
                  <a:schemeClr val="tx1"/>
                </a:solidFill>
              </a:rPr>
              <a:t>Name </a:t>
            </a:r>
          </a:p>
          <a:p>
            <a:r>
              <a:rPr lang="en-US" sz="2400" dirty="0">
                <a:solidFill>
                  <a:schemeClr val="tx1"/>
                </a:solidFill>
              </a:rPr>
              <a:t>Role </a:t>
            </a:r>
          </a:p>
          <a:p>
            <a:r>
              <a:rPr lang="en-US" sz="2400" dirty="0">
                <a:solidFill>
                  <a:schemeClr val="tx1"/>
                </a:solidFill>
              </a:rPr>
              <a:t>Phone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214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68DB-7EA4-1857-31BE-7B8A260F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4924"/>
            <a:ext cx="3854528" cy="88207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Staff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C4D9-0DBE-230B-06AD-E1747C08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Explanation:</a:t>
            </a:r>
          </a:p>
          <a:p>
            <a:r>
              <a:rPr lang="en-US" sz="2400" b="1" dirty="0" err="1">
                <a:solidFill>
                  <a:schemeClr val="tx1"/>
                </a:solidFill>
              </a:rPr>
              <a:t>StaffID</a:t>
            </a:r>
            <a:r>
              <a:rPr lang="en-US" sz="2400" dirty="0">
                <a:solidFill>
                  <a:schemeClr val="tx1"/>
                </a:solidFill>
              </a:rPr>
              <a:t> → Unique ID for each staff member 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Name</a:t>
            </a:r>
            <a:r>
              <a:rPr lang="en-US" sz="2400" dirty="0">
                <a:solidFill>
                  <a:schemeClr val="tx1"/>
                </a:solidFill>
              </a:rPr>
              <a:t> → Name of staff 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Role</a:t>
            </a:r>
            <a:r>
              <a:rPr lang="en-US" sz="2400" dirty="0">
                <a:solidFill>
                  <a:schemeClr val="tx1"/>
                </a:solidFill>
              </a:rPr>
              <a:t> → Job role (Nurse, Receptionist, Technician, etc.) 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Phone</a:t>
            </a:r>
            <a:r>
              <a:rPr lang="en-US" sz="2400" dirty="0">
                <a:solidFill>
                  <a:schemeClr val="tx1"/>
                </a:solidFill>
              </a:rPr>
              <a:t> → Contact number of staff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9F69E-B2F6-9730-3E84-E79B49912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100" y="1651001"/>
            <a:ext cx="4112762" cy="371051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CREATE TABLE Staff (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</a:t>
            </a:r>
            <a:r>
              <a:rPr lang="en-US" sz="2400" dirty="0" err="1">
                <a:solidFill>
                  <a:schemeClr val="tx1"/>
                </a:solidFill>
              </a:rPr>
              <a:t>StaffID</a:t>
            </a:r>
            <a:r>
              <a:rPr lang="en-US" sz="2400" dirty="0">
                <a:solidFill>
                  <a:schemeClr val="tx1"/>
                </a:solidFill>
              </a:rPr>
              <a:t> INT PRIMARY KEY,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Name VARCHAR(50),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Role VARCHAR(30),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Phone VARCHAR(15)</a:t>
            </a:r>
          </a:p>
          <a:p>
            <a:r>
              <a:rPr lang="en-US" sz="2400" dirty="0">
                <a:solidFill>
                  <a:schemeClr val="tx1"/>
                </a:solidFill>
              </a:rPr>
              <a:t>);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61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16C4EE-1425-734C-4735-C6BB3D46A0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837326"/>
              </p:ext>
            </p:extLst>
          </p:nvPr>
        </p:nvGraphicFramePr>
        <p:xfrm>
          <a:off x="279400" y="368300"/>
          <a:ext cx="10515600" cy="6210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220761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882726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696844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33983510"/>
                    </a:ext>
                  </a:extLst>
                </a:gridCol>
              </a:tblGrid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StaffID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512661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960271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Receptionist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623605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Ward Boy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09016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Suresh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1321074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Kavita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656941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Ajay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Technician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45075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Reena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789936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Pankaj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Pharmacist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033657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Sunita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9000000009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891697"/>
                  </a:ext>
                </a:extLst>
              </a:tr>
              <a:tr h="56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9000000010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978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73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AD2A-E62C-5A28-B9E0-68884596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609600"/>
            <a:ext cx="8905702" cy="13208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4.Room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7EAD1-0839-8223-6ED8-C7ECB7F35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397001"/>
            <a:ext cx="5842000" cy="464436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tx1"/>
                </a:solidFill>
              </a:rPr>
              <a:t>Definition:</a:t>
            </a:r>
            <a:r>
              <a:rPr lang="en-US" sz="2400" dirty="0" err="1">
                <a:solidFill>
                  <a:schemeClr val="tx1"/>
                </a:solidFill>
              </a:rPr>
              <a:t>Stores</a:t>
            </a:r>
            <a:r>
              <a:rPr lang="en-US" sz="2400" dirty="0">
                <a:solidFill>
                  <a:schemeClr val="tx1"/>
                </a:solidFill>
              </a:rPr>
              <a:t> hospital room details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Fields: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</a:rPr>
              <a:t>RoomID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RoomType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>
                <a:solidFill>
                  <a:schemeClr val="tx1"/>
                </a:solidFill>
              </a:rPr>
              <a:t>Status </a:t>
            </a:r>
          </a:p>
          <a:p>
            <a:r>
              <a:rPr lang="en-US" sz="2400" dirty="0">
                <a:solidFill>
                  <a:schemeClr val="tx1"/>
                </a:solidFill>
              </a:rPr>
              <a:t>Charges</a:t>
            </a:r>
          </a:p>
          <a:p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5F165E-EE2C-CD59-1413-3A67B6394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87" b="99457" l="580" r="93551">
                        <a14:foregroundMark x1="43696" y1="37174" x2="52174" y2="30870"/>
                        <a14:foregroundMark x1="52174" y1="30870" x2="44275" y2="23696"/>
                        <a14:foregroundMark x1="44275" y1="23696" x2="47681" y2="10761"/>
                        <a14:foregroundMark x1="47681" y1="10761" x2="53913" y2="18261"/>
                        <a14:foregroundMark x1="53913" y1="18261" x2="55507" y2="28587"/>
                        <a14:foregroundMark x1="55507" y1="28587" x2="50507" y2="50978"/>
                        <a14:foregroundMark x1="50507" y1="50978" x2="40290" y2="41957"/>
                        <a14:foregroundMark x1="40290" y1="41957" x2="38768" y2="19348"/>
                        <a14:foregroundMark x1="38768" y1="19348" x2="45362" y2="13478"/>
                        <a14:foregroundMark x1="45362" y1="13478" x2="55000" y2="22826"/>
                        <a14:foregroundMark x1="55000" y1="22826" x2="61159" y2="40761"/>
                        <a14:foregroundMark x1="61159" y1="40761" x2="60725" y2="52717"/>
                        <a14:foregroundMark x1="60725" y1="52717" x2="45725" y2="56739"/>
                        <a14:foregroundMark x1="45725" y1="56739" x2="39565" y2="32826"/>
                        <a14:foregroundMark x1="39565" y1="32826" x2="40652" y2="30217"/>
                        <a14:foregroundMark x1="41449" y1="84674" x2="40870" y2="83913"/>
                        <a14:foregroundMark x1="61957" y1="85217" x2="59928" y2="84457"/>
                        <a14:foregroundMark x1="76449" y1="82391" x2="76449" y2="85000"/>
                        <a14:foregroundMark x1="92971" y1="69457" x2="93551" y2="75543"/>
                        <a14:foregroundMark x1="37029" y1="19674" x2="34783" y2="12826"/>
                        <a14:foregroundMark x1="34783" y1="12826" x2="34638" y2="12826"/>
                        <a14:foregroundMark x1="31014" y1="6522" x2="55725" y2="5761"/>
                        <a14:foregroundMark x1="50870" y1="3913" x2="32391" y2="2174"/>
                        <a14:foregroundMark x1="32391" y1="2174" x2="32391" y2="2174"/>
                        <a14:foregroundMark x1="30362" y1="3478" x2="31522" y2="15435"/>
                        <a14:foregroundMark x1="31522" y1="15435" x2="31812" y2="15761"/>
                        <a14:foregroundMark x1="32391" y1="20326" x2="32609" y2="34457"/>
                        <a14:foregroundMark x1="60580" y1="6522" x2="64420" y2="25978"/>
                        <a14:foregroundMark x1="68623" y1="5217" x2="68986" y2="16522"/>
                        <a14:foregroundMark x1="71449" y1="6848" x2="70797" y2="29348"/>
                        <a14:foregroundMark x1="70797" y1="29348" x2="70217" y2="29457"/>
                        <a14:foregroundMark x1="68188" y1="42935" x2="68043" y2="48370"/>
                        <a14:foregroundMark x1="68188" y1="37609" x2="68188" y2="55109"/>
                        <a14:foregroundMark x1="68188" y1="55109" x2="68043" y2="54674"/>
                        <a14:foregroundMark x1="65580" y1="40543" x2="66594" y2="59783"/>
                        <a14:foregroundMark x1="71014" y1="40217" x2="72029" y2="49674"/>
                        <a14:foregroundMark x1="72609" y1="42391" x2="72609" y2="48696"/>
                        <a14:foregroundMark x1="46449" y1="76848" x2="42464" y2="76848"/>
                        <a14:foregroundMark x1="54348" y1="78913" x2="46087" y2="78696"/>
                        <a14:foregroundMark x1="53551" y1="77935" x2="61739" y2="77717"/>
                        <a14:foregroundMark x1="61739" y1="77717" x2="64783" y2="76304"/>
                        <a14:foregroundMark x1="33188" y1="77174" x2="35217" y2="75761"/>
                        <a14:foregroundMark x1="35580" y1="78913" x2="38043" y2="77609"/>
                        <a14:foregroundMark x1="7029" y1="28696" x2="7029" y2="35543"/>
                        <a14:foregroundMark x1="37391" y1="35543" x2="36812" y2="49674"/>
                        <a14:foregroundMark x1="28551" y1="7174" x2="33986" y2="39457"/>
                        <a14:foregroundMark x1="33986" y1="39457" x2="33986" y2="39457"/>
                        <a14:foregroundMark x1="59783" y1="11304" x2="62609" y2="27609"/>
                        <a14:foregroundMark x1="63551" y1="2609" x2="55145" y2="1087"/>
                        <a14:foregroundMark x1="21304" y1="5978" x2="26449" y2="33043"/>
                        <a14:foregroundMark x1="26449" y1="33043" x2="26159" y2="32826"/>
                        <a14:foregroundMark x1="18696" y1="11848" x2="23333" y2="34239"/>
                        <a14:foregroundMark x1="23333" y1="34239" x2="23551" y2="34457"/>
                        <a14:foregroundMark x1="23913" y1="34239" x2="23768" y2="42065"/>
                        <a14:foregroundMark x1="20942" y1="6630" x2="15942" y2="12065"/>
                        <a14:foregroundMark x1="15942" y1="12065" x2="14275" y2="7609"/>
                        <a14:foregroundMark x1="13913" y1="11848" x2="18043" y2="18043"/>
                        <a14:foregroundMark x1="18043" y1="18043" x2="17681" y2="18152"/>
                        <a14:foregroundMark x1="12101" y1="36087" x2="10652" y2="35217"/>
                        <a14:foregroundMark x1="9275" y1="31304" x2="12174" y2="41739"/>
                        <a14:foregroundMark x1="12174" y1="41739" x2="12246" y2="41848"/>
                        <a14:foregroundMark x1="10870" y1="26304" x2="8478" y2="3370"/>
                        <a14:foregroundMark x1="8478" y1="3370" x2="8623" y2="2609"/>
                        <a14:foregroundMark x1="7681" y1="25000" x2="6667" y2="1087"/>
                        <a14:foregroundMark x1="21522" y1="50000" x2="15000" y2="54022"/>
                        <a14:foregroundMark x1="15000" y1="54022" x2="16667" y2="57065"/>
                        <a14:foregroundMark x1="15507" y1="43478" x2="18696" y2="67065"/>
                        <a14:foregroundMark x1="18696" y1="67065" x2="18913" y2="67609"/>
                        <a14:foregroundMark x1="10870" y1="56087" x2="11739" y2="81087"/>
                        <a14:foregroundMark x1="11739" y1="81087" x2="11884" y2="80978"/>
                        <a14:foregroundMark x1="23116" y1="63370" x2="27536" y2="82174"/>
                        <a14:foregroundMark x1="16087" y1="61087" x2="16449" y2="73913"/>
                        <a14:foregroundMark x1="16449" y1="73913" x2="19058" y2="62826"/>
                        <a14:foregroundMark x1="19058" y1="62826" x2="18696" y2="65000"/>
                        <a14:foregroundMark x1="22536" y1="47065" x2="21739" y2="60435"/>
                        <a14:foregroundMark x1="21739" y1="60435" x2="20797" y2="53370"/>
                        <a14:foregroundMark x1="20797" y1="53370" x2="19710" y2="51304"/>
                        <a14:foregroundMark x1="17681" y1="34783" x2="14493" y2="39239"/>
                        <a14:foregroundMark x1="16884" y1="76304" x2="20435" y2="91739"/>
                        <a14:foregroundMark x1="20435" y1="91739" x2="17101" y2="84239"/>
                        <a14:foregroundMark x1="10435" y1="47065" x2="11087" y2="56304"/>
                        <a14:foregroundMark x1="11087" y1="56304" x2="8261" y2="54239"/>
                        <a14:foregroundMark x1="26594" y1="45543" x2="28986" y2="52283"/>
                        <a14:foregroundMark x1="28986" y1="52283" x2="26957" y2="47609"/>
                        <a14:foregroundMark x1="24783" y1="50217" x2="25580" y2="62065"/>
                        <a14:foregroundMark x1="24928" y1="78478" x2="26377" y2="86848"/>
                        <a14:foregroundMark x1="26377" y1="86848" x2="26377" y2="86848"/>
                        <a14:foregroundMark x1="25725" y1="87826" x2="1812" y2="88913"/>
                        <a14:foregroundMark x1="12681" y1="18478" x2="16884" y2="32609"/>
                        <a14:foregroundMark x1="25145" y1="13696" x2="33986" y2="53696"/>
                        <a14:foregroundMark x1="39058" y1="50761" x2="43696" y2="61848"/>
                        <a14:foregroundMark x1="27536" y1="55978" x2="30000" y2="64239"/>
                        <a14:foregroundMark x1="44275" y1="75217" x2="57971" y2="75326"/>
                        <a14:foregroundMark x1="27174" y1="75217" x2="31014" y2="83478"/>
                        <a14:foregroundMark x1="30000" y1="81630" x2="31377" y2="88478"/>
                        <a14:foregroundMark x1="30362" y1="79022" x2="30362" y2="79022"/>
                        <a14:foregroundMark x1="37029" y1="87826" x2="29203" y2="88152"/>
                        <a14:foregroundMark x1="29203" y1="88152" x2="40217" y2="87717"/>
                        <a14:foregroundMark x1="40217" y1="87717" x2="65217" y2="89239"/>
                        <a14:foregroundMark x1="53551" y1="84022" x2="47101" y2="83696"/>
                        <a14:foregroundMark x1="45507" y1="83913" x2="45507" y2="82935"/>
                        <a14:foregroundMark x1="36232" y1="82609" x2="37609" y2="84457"/>
                        <a14:foregroundMark x1="57174" y1="83913" x2="55725" y2="86848"/>
                        <a14:foregroundMark x1="64203" y1="83370" x2="65000" y2="85217"/>
                        <a14:foregroundMark x1="70652" y1="79783" x2="70652" y2="83913"/>
                        <a14:foregroundMark x1="70652" y1="82609" x2="72464" y2="80978"/>
                        <a14:foregroundMark x1="67826" y1="78370" x2="70000" y2="82826"/>
                        <a14:foregroundMark x1="72826" y1="78696" x2="73623" y2="83370"/>
                        <a14:foregroundMark x1="68623" y1="85000" x2="76449" y2="85000"/>
                        <a14:foregroundMark x1="69855" y1="86522" x2="64420" y2="86522"/>
                        <a14:foregroundMark x1="72609" y1="87391" x2="70217" y2="88152"/>
                        <a14:foregroundMark x1="10435" y1="83370" x2="9638" y2="81630"/>
                        <a14:foregroundMark x1="6812" y1="87391" x2="580" y2="87935"/>
                        <a14:foregroundMark x1="2029" y1="78696" x2="2391" y2="82609"/>
                        <a14:foregroundMark x1="2246" y1="14239" x2="2826" y2="35761"/>
                        <a14:foregroundMark x1="6232" y1="23696" x2="6014" y2="34674"/>
                        <a14:foregroundMark x1="4855" y1="36087" x2="3623" y2="42391"/>
                        <a14:foregroundMark x1="3623" y1="3152" x2="3188" y2="13152"/>
                        <a14:foregroundMark x1="3188" y1="13152" x2="3188" y2="13152"/>
                        <a14:foregroundMark x1="13478" y1="3913" x2="24928" y2="5543"/>
                        <a14:foregroundMark x1="72826" y1="2609" x2="72826" y2="15761"/>
                        <a14:foregroundMark x1="31087" y1="97174" x2="725" y2="97717"/>
                        <a14:foregroundMark x1="725" y1="97717" x2="2174" y2="97500"/>
                        <a14:foregroundMark x1="3696" y1="48587" x2="2826" y2="67391"/>
                        <a14:foregroundMark x1="2826" y1="67391" x2="2826" y2="67391"/>
                        <a14:foregroundMark x1="3261" y1="42391" x2="5362" y2="68696"/>
                        <a14:foregroundMark x1="5362" y1="68696" x2="5000" y2="68696"/>
                        <a14:foregroundMark x1="5000" y1="68696" x2="3913" y2="79565"/>
                        <a14:foregroundMark x1="27826" y1="95652" x2="49058" y2="95978"/>
                        <a14:foregroundMark x1="49058" y1="95978" x2="57826" y2="95870"/>
                        <a14:foregroundMark x1="72609" y1="90000" x2="65870" y2="99457"/>
                        <a14:foregroundMark x1="56957" y1="96196" x2="34710" y2="95000"/>
                        <a14:foregroundMark x1="34710" y1="95000" x2="57971" y2="93804"/>
                        <a14:foregroundMark x1="57971" y1="93804" x2="14710" y2="95435"/>
                        <a14:foregroundMark x1="14710" y1="95435" x2="6304" y2="93370"/>
                        <a14:foregroundMark x1="29565" y1="55109" x2="35652" y2="62391"/>
                        <a14:foregroundMark x1="61739" y1="93152" x2="61739" y2="92500"/>
                        <a14:foregroundMark x1="69348" y1="93043" x2="63188" y2="99130"/>
                        <a14:foregroundMark x1="63188" y1="99130" x2="63696" y2="92500"/>
                        <a14:foregroundMark x1="63696" y1="92500" x2="63696" y2="927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900" y="1"/>
            <a:ext cx="5499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84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E6EC-5E28-5B00-7C56-C99B2F29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4" y="514924"/>
            <a:ext cx="3854528" cy="66617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Room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18ED-2608-5715-4DD8-5BA219E9D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1"/>
                </a:solidFill>
              </a:rPr>
              <a:t>Explanation:</a:t>
            </a:r>
          </a:p>
          <a:p>
            <a:r>
              <a:rPr lang="en-IN" sz="2000" dirty="0" err="1">
                <a:solidFill>
                  <a:schemeClr val="tx1"/>
                </a:solidFill>
              </a:rPr>
              <a:t>RoomID</a:t>
            </a:r>
            <a:r>
              <a:rPr lang="en-IN" sz="2000" dirty="0">
                <a:solidFill>
                  <a:schemeClr val="tx1"/>
                </a:solidFill>
              </a:rPr>
              <a:t> INT PRIMARY KEY → Unique room number </a:t>
            </a:r>
          </a:p>
          <a:p>
            <a:r>
              <a:rPr lang="en-IN" sz="2000" dirty="0" err="1">
                <a:solidFill>
                  <a:schemeClr val="tx1"/>
                </a:solidFill>
              </a:rPr>
              <a:t>RoomType</a:t>
            </a:r>
            <a:r>
              <a:rPr lang="en-IN" sz="2000" dirty="0">
                <a:solidFill>
                  <a:schemeClr val="tx1"/>
                </a:solidFill>
              </a:rPr>
              <a:t> VARCHAR(30) → Type (General, ICU, Private, etc.) </a:t>
            </a:r>
          </a:p>
          <a:p>
            <a:r>
              <a:rPr lang="en-IN" sz="2000" dirty="0">
                <a:solidFill>
                  <a:schemeClr val="tx1"/>
                </a:solidFill>
              </a:rPr>
              <a:t>Status VARCHAR(20) → Available / Occupied </a:t>
            </a:r>
          </a:p>
          <a:p>
            <a:r>
              <a:rPr lang="en-IN" sz="2000" dirty="0">
                <a:solidFill>
                  <a:schemeClr val="tx1"/>
                </a:solidFill>
              </a:rPr>
              <a:t>Charges DECIMAL(10,2) → Cost per day 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36C82-4358-31AD-BBA9-91234E949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2534" y="1473201"/>
            <a:ext cx="4138162" cy="37592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CREATE TABLE Room (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</a:t>
            </a:r>
            <a:r>
              <a:rPr lang="en-US" sz="2400" dirty="0" err="1">
                <a:solidFill>
                  <a:schemeClr val="tx1"/>
                </a:solidFill>
              </a:rPr>
              <a:t>RoomID</a:t>
            </a:r>
            <a:r>
              <a:rPr lang="en-US" sz="2400" dirty="0">
                <a:solidFill>
                  <a:schemeClr val="tx1"/>
                </a:solidFill>
              </a:rPr>
              <a:t> INT PRIMARY KEY,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</a:t>
            </a:r>
            <a:r>
              <a:rPr lang="en-US" sz="2400" dirty="0" err="1">
                <a:solidFill>
                  <a:schemeClr val="tx1"/>
                </a:solidFill>
              </a:rPr>
              <a:t>RoomType</a:t>
            </a:r>
            <a:r>
              <a:rPr lang="en-US" sz="2400" dirty="0">
                <a:solidFill>
                  <a:schemeClr val="tx1"/>
                </a:solidFill>
              </a:rPr>
              <a:t> VARCHAR(30),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Status VARCHAR(20),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Charges DECIMAL(10,2)</a:t>
            </a:r>
          </a:p>
          <a:p>
            <a:r>
              <a:rPr lang="en-US" sz="2400" dirty="0">
                <a:solidFill>
                  <a:schemeClr val="tx1"/>
                </a:solidFill>
              </a:rPr>
              <a:t>);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908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CCB963-14F8-3981-92ED-6565E8DBF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988482"/>
              </p:ext>
            </p:extLst>
          </p:nvPr>
        </p:nvGraphicFramePr>
        <p:xfrm>
          <a:off x="342900" y="152400"/>
          <a:ext cx="10350500" cy="63118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87625">
                  <a:extLst>
                    <a:ext uri="{9D8B030D-6E8A-4147-A177-3AD203B41FA5}">
                      <a16:colId xmlns:a16="http://schemas.microsoft.com/office/drawing/2014/main" val="980654756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1842507841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1976216006"/>
                    </a:ext>
                  </a:extLst>
                </a:gridCol>
                <a:gridCol w="2587625">
                  <a:extLst>
                    <a:ext uri="{9D8B030D-6E8A-4147-A177-3AD203B41FA5}">
                      <a16:colId xmlns:a16="http://schemas.microsoft.com/office/drawing/2014/main" val="824531144"/>
                    </a:ext>
                  </a:extLst>
                </a:gridCol>
              </a:tblGrid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RoomID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297157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671911"/>
                  </a:ext>
                </a:extLst>
              </a:tr>
              <a:tr h="692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Occupied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894139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395917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740611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Occupied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405413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879554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Occupied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95855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49127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313481"/>
                  </a:ext>
                </a:extLst>
              </a:tr>
              <a:tr h="561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094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074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F751-2DC9-746F-B885-9B88C13A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668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5.Appointment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0408A-D207-5C1E-2D3D-2A0B19C62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700" y="1473200"/>
            <a:ext cx="8372302" cy="45681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tx1"/>
                </a:solidFill>
              </a:rPr>
              <a:t>Definition:</a:t>
            </a:r>
            <a:r>
              <a:rPr lang="en-US" sz="2000" dirty="0" err="1">
                <a:solidFill>
                  <a:schemeClr val="tx1"/>
                </a:solidFill>
              </a:rPr>
              <a:t>Stores</a:t>
            </a:r>
            <a:r>
              <a:rPr lang="en-US" sz="2000" dirty="0">
                <a:solidFill>
                  <a:schemeClr val="tx1"/>
                </a:solidFill>
              </a:rPr>
              <a:t> appointment details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Fields: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 err="1">
                <a:solidFill>
                  <a:schemeClr val="tx1"/>
                </a:solidFill>
              </a:rPr>
              <a:t>AppointmentID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PatientID</a:t>
            </a:r>
            <a:r>
              <a:rPr lang="en-US" sz="2000" dirty="0">
                <a:solidFill>
                  <a:schemeClr val="tx1"/>
                </a:solidFill>
              </a:rPr>
              <a:t> (Foreign Key) 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DoctorID</a:t>
            </a:r>
            <a:r>
              <a:rPr lang="en-US" sz="2000" dirty="0">
                <a:solidFill>
                  <a:schemeClr val="tx1"/>
                </a:solidFill>
              </a:rPr>
              <a:t> (Foreign Key) </a:t>
            </a:r>
          </a:p>
          <a:p>
            <a:r>
              <a:rPr lang="en-US" sz="2000" dirty="0">
                <a:solidFill>
                  <a:schemeClr val="tx1"/>
                </a:solidFill>
              </a:rPr>
              <a:t>Date </a:t>
            </a:r>
          </a:p>
          <a:p>
            <a:r>
              <a:rPr lang="en-US" sz="2000" dirty="0">
                <a:solidFill>
                  <a:schemeClr val="tx1"/>
                </a:solidFill>
              </a:rPr>
              <a:t>Time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96C70-3C0D-FB3A-880F-F01ED7B70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200" y="0"/>
            <a:ext cx="6273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36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7BBD-C973-5617-ADFD-AB6C6C0A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799" y="514924"/>
            <a:ext cx="3854529" cy="80587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Appointment Table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DCA1-2A3A-32EC-775A-CD91A8D36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5323339" cy="6114476"/>
          </a:xfrm>
        </p:spPr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Explanation: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AppointmentID</a:t>
            </a:r>
            <a:r>
              <a:rPr lang="en-US" sz="2000" dirty="0">
                <a:solidFill>
                  <a:schemeClr val="tx1"/>
                </a:solidFill>
              </a:rPr>
              <a:t> → Unique ID for each appointment 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PatientID</a:t>
            </a:r>
            <a:r>
              <a:rPr lang="en-US" sz="2000" dirty="0">
                <a:solidFill>
                  <a:schemeClr val="tx1"/>
                </a:solidFill>
              </a:rPr>
              <a:t> → Links to Patient table 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DoctorID</a:t>
            </a:r>
            <a:r>
              <a:rPr lang="en-US" sz="2000" dirty="0">
                <a:solidFill>
                  <a:schemeClr val="tx1"/>
                </a:solidFill>
              </a:rPr>
              <a:t> → Links to Doctor table </a:t>
            </a:r>
          </a:p>
          <a:p>
            <a:r>
              <a:rPr lang="en-US" sz="2000" dirty="0">
                <a:solidFill>
                  <a:schemeClr val="tx1"/>
                </a:solidFill>
              </a:rPr>
              <a:t>Date → Appointment date </a:t>
            </a:r>
          </a:p>
          <a:p>
            <a:r>
              <a:rPr lang="en-US" sz="2000" dirty="0">
                <a:solidFill>
                  <a:schemeClr val="tx1"/>
                </a:solidFill>
              </a:rPr>
              <a:t>Time → Appointment time </a:t>
            </a:r>
          </a:p>
          <a:p>
            <a:r>
              <a:rPr lang="en-US" sz="2000" dirty="0">
                <a:solidFill>
                  <a:schemeClr val="tx1"/>
                </a:solidFill>
              </a:rPr>
              <a:t>FOREIGN KEY → Maintains relationship between tables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7A725-F824-0B32-3D5B-2756094F4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3" y="1549400"/>
            <a:ext cx="3854529" cy="4491961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CREATE TABLE Appointment (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AppointmentID</a:t>
            </a:r>
            <a:r>
              <a:rPr lang="en-US" sz="1800" dirty="0">
                <a:solidFill>
                  <a:schemeClr val="tx1"/>
                </a:solidFill>
              </a:rPr>
              <a:t> INT PRIMARY KEY,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PatientID</a:t>
            </a:r>
            <a:r>
              <a:rPr lang="en-US" sz="1800" dirty="0">
                <a:solidFill>
                  <a:schemeClr val="tx1"/>
                </a:solidFill>
              </a:rPr>
              <a:t> INT,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DoctorID</a:t>
            </a:r>
            <a:r>
              <a:rPr lang="en-US" sz="1800" dirty="0">
                <a:solidFill>
                  <a:schemeClr val="tx1"/>
                </a:solidFill>
              </a:rPr>
              <a:t> INT,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Date </a:t>
            </a:r>
            <a:r>
              <a:rPr lang="en-US" sz="1800" dirty="0" err="1">
                <a:solidFill>
                  <a:schemeClr val="tx1"/>
                </a:solidFill>
              </a:rPr>
              <a:t>DATE</a:t>
            </a:r>
            <a:r>
              <a:rPr lang="en-US" sz="1800" dirty="0">
                <a:solidFill>
                  <a:schemeClr val="tx1"/>
                </a:solidFill>
              </a:rPr>
              <a:t>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Time </a:t>
            </a:r>
            <a:r>
              <a:rPr lang="en-US" sz="1800" dirty="0" err="1">
                <a:solidFill>
                  <a:schemeClr val="tx1"/>
                </a:solidFill>
              </a:rPr>
              <a:t>TIME</a:t>
            </a:r>
            <a:r>
              <a:rPr lang="en-US" sz="1800" dirty="0">
                <a:solidFill>
                  <a:schemeClr val="tx1"/>
                </a:solidFill>
              </a:rPr>
              <a:t>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FOREIGN KEY (</a:t>
            </a:r>
            <a:r>
              <a:rPr lang="en-US" sz="1800" dirty="0" err="1">
                <a:solidFill>
                  <a:schemeClr val="tx1"/>
                </a:solidFill>
              </a:rPr>
              <a:t>PatientID</a:t>
            </a:r>
            <a:r>
              <a:rPr lang="en-US" sz="1800" dirty="0">
                <a:solidFill>
                  <a:schemeClr val="tx1"/>
                </a:solidFill>
              </a:rPr>
              <a:t>) REFERENCES Patient(</a:t>
            </a:r>
            <a:r>
              <a:rPr lang="en-US" sz="1800" dirty="0" err="1">
                <a:solidFill>
                  <a:schemeClr val="tx1"/>
                </a:solidFill>
              </a:rPr>
              <a:t>PatientID</a:t>
            </a:r>
            <a:r>
              <a:rPr lang="en-US" sz="1800" dirty="0">
                <a:solidFill>
                  <a:schemeClr val="tx1"/>
                </a:solidFill>
              </a:rPr>
              <a:t>),</a:t>
            </a:r>
          </a:p>
          <a:p>
            <a:r>
              <a:rPr lang="en-US" sz="1800" dirty="0">
                <a:solidFill>
                  <a:schemeClr val="tx1"/>
                </a:solidFill>
              </a:rPr>
              <a:t>    FOREIGN KEY (</a:t>
            </a:r>
            <a:r>
              <a:rPr lang="en-US" sz="1800" dirty="0" err="1">
                <a:solidFill>
                  <a:schemeClr val="tx1"/>
                </a:solidFill>
              </a:rPr>
              <a:t>DoctorID</a:t>
            </a:r>
            <a:r>
              <a:rPr lang="en-US" sz="1800" dirty="0">
                <a:solidFill>
                  <a:schemeClr val="tx1"/>
                </a:solidFill>
              </a:rPr>
              <a:t>) REFERENCES Doctor(</a:t>
            </a:r>
            <a:r>
              <a:rPr lang="en-US" sz="1800" dirty="0" err="1">
                <a:solidFill>
                  <a:schemeClr val="tx1"/>
                </a:solidFill>
              </a:rPr>
              <a:t>DoctorID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  <a:p>
            <a:r>
              <a:rPr lang="en-US" sz="1800" dirty="0">
                <a:solidFill>
                  <a:schemeClr val="tx1"/>
                </a:solidFill>
              </a:rPr>
              <a:t>);</a:t>
            </a: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34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E12AF1-11F3-2AEF-A211-D9F5937F4C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3388458"/>
              </p:ext>
            </p:extLst>
          </p:nvPr>
        </p:nvGraphicFramePr>
        <p:xfrm>
          <a:off x="406400" y="317500"/>
          <a:ext cx="10947400" cy="632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850">
                  <a:extLst>
                    <a:ext uri="{9D8B030D-6E8A-4147-A177-3AD203B41FA5}">
                      <a16:colId xmlns:a16="http://schemas.microsoft.com/office/drawing/2014/main" val="385263473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328285996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337401708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380770246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677886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8916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921889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34455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916356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35638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416845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025218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898155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14558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E05C95-4194-02E4-E95A-74DB6DD86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132498"/>
              </p:ext>
            </p:extLst>
          </p:nvPr>
        </p:nvGraphicFramePr>
        <p:xfrm>
          <a:off x="406400" y="355600"/>
          <a:ext cx="10947400" cy="6324596"/>
        </p:xfrm>
        <a:graphic>
          <a:graphicData uri="http://schemas.openxmlformats.org/drawingml/2006/table">
            <a:tbl>
              <a:tblPr/>
              <a:tblGrid>
                <a:gridCol w="2189480">
                  <a:extLst>
                    <a:ext uri="{9D8B030D-6E8A-4147-A177-3AD203B41FA5}">
                      <a16:colId xmlns:a16="http://schemas.microsoft.com/office/drawing/2014/main" val="1663876162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977093249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1395327779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1466102359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135264087"/>
                    </a:ext>
                  </a:extLst>
                </a:gridCol>
              </a:tblGrid>
              <a:tr h="53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AppointmentID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PatientID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DoctorID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Date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Time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173736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501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101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10:30:00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641882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502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102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2026-02-26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11:00:00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045170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503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3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103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2026-02-27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09:45:00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177874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504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104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12:15:00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240139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2026-02-26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02:30:00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548010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506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6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106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2026-02-27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03:00:00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12455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507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7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107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04:15:00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623516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508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8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108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2026-02-26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05:00:00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239590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509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9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109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2026-02-27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10:15:00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24475"/>
                  </a:ext>
                </a:extLst>
              </a:tr>
              <a:tr h="57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510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110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2026-02-25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11:45:00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247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514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F440D-ABA2-D0CB-7B64-B80FF0D6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6.Admission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6F943-2785-7472-E1BF-791DF931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25601"/>
            <a:ext cx="8727902" cy="441576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Description:</a:t>
            </a:r>
            <a:r>
              <a:rPr lang="en-US" sz="2400" dirty="0">
                <a:solidFill>
                  <a:schemeClr val="tx1"/>
                </a:solidFill>
              </a:rPr>
              <a:t> Stores patient admission details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Attributes: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</a:rPr>
              <a:t>AdmissionID</a:t>
            </a:r>
            <a:r>
              <a:rPr lang="en-US" sz="2400" dirty="0">
                <a:solidFill>
                  <a:schemeClr val="tx1"/>
                </a:solidFill>
              </a:rPr>
              <a:t> (Primary Key)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PatientID</a:t>
            </a:r>
            <a:r>
              <a:rPr lang="en-US" sz="2400" dirty="0">
                <a:solidFill>
                  <a:schemeClr val="tx1"/>
                </a:solidFill>
              </a:rPr>
              <a:t> (Foreign Key)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RoomID</a:t>
            </a:r>
            <a:r>
              <a:rPr lang="en-US" sz="2400" dirty="0">
                <a:solidFill>
                  <a:schemeClr val="tx1"/>
                </a:solidFill>
              </a:rPr>
              <a:t> (Foreign Key)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AdmitDate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DischargeDate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65FE9-18BD-709C-E42F-0683410CD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01" b="99516" l="3667" r="90833">
                        <a14:foregroundMark x1="35333" y1="31961" x2="45500" y2="36077"/>
                        <a14:foregroundMark x1="45500" y1="36077" x2="46333" y2="36077"/>
                        <a14:foregroundMark x1="32333" y1="28571" x2="79167" y2="38015"/>
                        <a14:foregroundMark x1="63333" y1="41646" x2="31667" y2="38499"/>
                        <a14:foregroundMark x1="34167" y1="40194" x2="51667" y2="51332"/>
                        <a14:foregroundMark x1="51667" y1="51332" x2="55833" y2="51090"/>
                        <a14:foregroundMark x1="54167" y1="51574" x2="80500" y2="56416"/>
                        <a14:foregroundMark x1="80500" y1="56416" x2="81000" y2="56174"/>
                        <a14:foregroundMark x1="77167" y1="46973" x2="79500" y2="44552"/>
                        <a14:foregroundMark x1="55667" y1="78450" x2="38500" y2="83051"/>
                        <a14:foregroundMark x1="38500" y1="83051" x2="27833" y2="78935"/>
                        <a14:foregroundMark x1="27833" y1="78935" x2="38333" y2="74092"/>
                        <a14:foregroundMark x1="38333" y1="74092" x2="46000" y2="76029"/>
                        <a14:foregroundMark x1="53167" y1="83293" x2="16500" y2="92494"/>
                        <a14:foregroundMark x1="24500" y1="92978" x2="13500" y2="90799"/>
                        <a14:foregroundMark x1="13500" y1="90799" x2="13333" y2="90073"/>
                        <a14:foregroundMark x1="3833" y1="98789" x2="26500" y2="99516"/>
                        <a14:foregroundMark x1="4167" y1="98063" x2="18833" y2="67797"/>
                        <a14:foregroundMark x1="18833" y1="67797" x2="18167" y2="67797"/>
                        <a14:foregroundMark x1="13500" y1="75787" x2="12000" y2="60775"/>
                        <a14:foregroundMark x1="12000" y1="60775" x2="11833" y2="60533"/>
                        <a14:foregroundMark x1="8833" y1="77966" x2="8833" y2="66344"/>
                        <a14:foregroundMark x1="8833" y1="66344" x2="9000" y2="66102"/>
                        <a14:foregroundMark x1="6000" y1="70460" x2="6500" y2="51332"/>
                        <a14:foregroundMark x1="7333" y1="47942" x2="8000" y2="42857"/>
                        <a14:foregroundMark x1="9333" y1="49879" x2="14167" y2="48426"/>
                        <a14:foregroundMark x1="30833" y1="48426" x2="38667" y2="48910"/>
                        <a14:foregroundMark x1="87833" y1="37046" x2="78000" y2="35593"/>
                        <a14:foregroundMark x1="90833" y1="39952" x2="88833" y2="53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502" y="2286000"/>
            <a:ext cx="664213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45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B340-EED0-D3DB-8EC2-759E1FC5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4924"/>
            <a:ext cx="3854528" cy="88207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Admission Table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F265B-5BE0-E3C5-A2E7-506B1A60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916939" cy="5708076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Explanation:</a:t>
            </a:r>
          </a:p>
          <a:p>
            <a:r>
              <a:rPr lang="en-US" sz="2000" b="1" dirty="0" err="1">
                <a:solidFill>
                  <a:schemeClr val="tx1"/>
                </a:solidFill>
              </a:rPr>
              <a:t>AdmissionID</a:t>
            </a:r>
            <a:r>
              <a:rPr lang="en-US" sz="2000" dirty="0">
                <a:solidFill>
                  <a:schemeClr val="tx1"/>
                </a:solidFill>
              </a:rPr>
              <a:t> → Unique admission number </a:t>
            </a:r>
          </a:p>
          <a:p>
            <a:r>
              <a:rPr lang="en-US" sz="2000" b="1" dirty="0" err="1">
                <a:solidFill>
                  <a:schemeClr val="tx1"/>
                </a:solidFill>
              </a:rPr>
              <a:t>PatientID</a:t>
            </a:r>
            <a:r>
              <a:rPr lang="en-US" sz="2000" dirty="0">
                <a:solidFill>
                  <a:schemeClr val="tx1"/>
                </a:solidFill>
              </a:rPr>
              <a:t> → Links to Patient table </a:t>
            </a:r>
          </a:p>
          <a:p>
            <a:r>
              <a:rPr lang="en-US" sz="2000" b="1" dirty="0" err="1">
                <a:solidFill>
                  <a:schemeClr val="tx1"/>
                </a:solidFill>
              </a:rPr>
              <a:t>RoomID</a:t>
            </a:r>
            <a:r>
              <a:rPr lang="en-US" sz="2000" dirty="0">
                <a:solidFill>
                  <a:schemeClr val="tx1"/>
                </a:solidFill>
              </a:rPr>
              <a:t> → Links to Room table </a:t>
            </a:r>
          </a:p>
          <a:p>
            <a:r>
              <a:rPr lang="en-US" sz="2000" b="1" dirty="0" err="1">
                <a:solidFill>
                  <a:schemeClr val="tx1"/>
                </a:solidFill>
              </a:rPr>
              <a:t>AdmitDate</a:t>
            </a:r>
            <a:r>
              <a:rPr lang="en-US" sz="2000" dirty="0">
                <a:solidFill>
                  <a:schemeClr val="tx1"/>
                </a:solidFill>
              </a:rPr>
              <a:t> → Date when patient is admitted </a:t>
            </a:r>
          </a:p>
          <a:p>
            <a:r>
              <a:rPr lang="en-US" sz="2000" b="1" dirty="0" err="1">
                <a:solidFill>
                  <a:schemeClr val="tx1"/>
                </a:solidFill>
              </a:rPr>
              <a:t>DischargeDate</a:t>
            </a:r>
            <a:r>
              <a:rPr lang="en-US" sz="2000" dirty="0">
                <a:solidFill>
                  <a:schemeClr val="tx1"/>
                </a:solidFill>
              </a:rPr>
              <a:t> → Date when patient is discharged 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9198D-4D3F-96C1-D413-0E3BA054E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4500" y="1536700"/>
            <a:ext cx="4087362" cy="4165599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solidFill>
                  <a:schemeClr val="tx1"/>
                </a:solidFill>
              </a:rPr>
              <a:t>CREATE TABLE Admission (</a:t>
            </a:r>
          </a:p>
          <a:p>
            <a:r>
              <a:rPr lang="en-US" sz="8000" dirty="0">
                <a:solidFill>
                  <a:schemeClr val="tx1"/>
                </a:solidFill>
              </a:rPr>
              <a:t>    </a:t>
            </a:r>
            <a:r>
              <a:rPr lang="en-US" sz="8000" dirty="0" err="1">
                <a:solidFill>
                  <a:schemeClr val="tx1"/>
                </a:solidFill>
              </a:rPr>
              <a:t>AdmissionID</a:t>
            </a:r>
            <a:r>
              <a:rPr lang="en-US" sz="8000" dirty="0">
                <a:solidFill>
                  <a:schemeClr val="tx1"/>
                </a:solidFill>
              </a:rPr>
              <a:t> INT PRIMARY KEY,</a:t>
            </a:r>
          </a:p>
          <a:p>
            <a:r>
              <a:rPr lang="en-US" sz="8000" dirty="0">
                <a:solidFill>
                  <a:schemeClr val="tx1"/>
                </a:solidFill>
              </a:rPr>
              <a:t>    </a:t>
            </a:r>
            <a:r>
              <a:rPr lang="en-US" sz="8000" dirty="0" err="1">
                <a:solidFill>
                  <a:schemeClr val="tx1"/>
                </a:solidFill>
              </a:rPr>
              <a:t>PatientID</a:t>
            </a:r>
            <a:r>
              <a:rPr lang="en-US" sz="8000" dirty="0">
                <a:solidFill>
                  <a:schemeClr val="tx1"/>
                </a:solidFill>
              </a:rPr>
              <a:t> INT,</a:t>
            </a:r>
          </a:p>
          <a:p>
            <a:r>
              <a:rPr lang="en-US" sz="8000" dirty="0">
                <a:solidFill>
                  <a:schemeClr val="tx1"/>
                </a:solidFill>
              </a:rPr>
              <a:t>    </a:t>
            </a:r>
            <a:r>
              <a:rPr lang="en-US" sz="8000" dirty="0" err="1">
                <a:solidFill>
                  <a:schemeClr val="tx1"/>
                </a:solidFill>
              </a:rPr>
              <a:t>RoomID</a:t>
            </a:r>
            <a:r>
              <a:rPr lang="en-US" sz="8000" dirty="0">
                <a:solidFill>
                  <a:schemeClr val="tx1"/>
                </a:solidFill>
              </a:rPr>
              <a:t> INT,</a:t>
            </a:r>
          </a:p>
          <a:p>
            <a:r>
              <a:rPr lang="en-US" sz="8000" dirty="0">
                <a:solidFill>
                  <a:schemeClr val="tx1"/>
                </a:solidFill>
              </a:rPr>
              <a:t>    </a:t>
            </a:r>
            <a:r>
              <a:rPr lang="en-US" sz="8000" dirty="0" err="1">
                <a:solidFill>
                  <a:schemeClr val="tx1"/>
                </a:solidFill>
              </a:rPr>
              <a:t>AdmitDate</a:t>
            </a:r>
            <a:r>
              <a:rPr lang="en-US" sz="8000" dirty="0">
                <a:solidFill>
                  <a:schemeClr val="tx1"/>
                </a:solidFill>
              </a:rPr>
              <a:t> DATE,</a:t>
            </a:r>
          </a:p>
          <a:p>
            <a:r>
              <a:rPr lang="en-US" sz="8000" dirty="0">
                <a:solidFill>
                  <a:schemeClr val="tx1"/>
                </a:solidFill>
              </a:rPr>
              <a:t>    </a:t>
            </a:r>
            <a:r>
              <a:rPr lang="en-US" sz="8000" dirty="0" err="1">
                <a:solidFill>
                  <a:schemeClr val="tx1"/>
                </a:solidFill>
              </a:rPr>
              <a:t>DischargeDate</a:t>
            </a:r>
            <a:r>
              <a:rPr lang="en-US" sz="8000" dirty="0">
                <a:solidFill>
                  <a:schemeClr val="tx1"/>
                </a:solidFill>
              </a:rPr>
              <a:t> DATE,</a:t>
            </a:r>
          </a:p>
          <a:p>
            <a:r>
              <a:rPr lang="en-US" sz="8000" dirty="0">
                <a:solidFill>
                  <a:schemeClr val="tx1"/>
                </a:solidFill>
              </a:rPr>
              <a:t>    FOREIGN KEY (</a:t>
            </a:r>
            <a:r>
              <a:rPr lang="en-US" sz="8000" dirty="0" err="1">
                <a:solidFill>
                  <a:schemeClr val="tx1"/>
                </a:solidFill>
              </a:rPr>
              <a:t>PatientID</a:t>
            </a:r>
            <a:r>
              <a:rPr lang="en-US" sz="8000" dirty="0">
                <a:solidFill>
                  <a:schemeClr val="tx1"/>
                </a:solidFill>
              </a:rPr>
              <a:t>) REFERENCES Patient(</a:t>
            </a:r>
            <a:r>
              <a:rPr lang="en-US" sz="8000" dirty="0" err="1">
                <a:solidFill>
                  <a:schemeClr val="tx1"/>
                </a:solidFill>
              </a:rPr>
              <a:t>PatientID</a:t>
            </a:r>
            <a:r>
              <a:rPr lang="en-US" sz="8000" dirty="0">
                <a:solidFill>
                  <a:schemeClr val="tx1"/>
                </a:solidFill>
              </a:rPr>
              <a:t>),</a:t>
            </a:r>
          </a:p>
          <a:p>
            <a:r>
              <a:rPr lang="en-US" sz="8000" dirty="0">
                <a:solidFill>
                  <a:schemeClr val="tx1"/>
                </a:solidFill>
              </a:rPr>
              <a:t>    FOREIGN KEY (</a:t>
            </a:r>
            <a:r>
              <a:rPr lang="en-US" sz="8000" dirty="0" err="1">
                <a:solidFill>
                  <a:schemeClr val="tx1"/>
                </a:solidFill>
              </a:rPr>
              <a:t>RoomID</a:t>
            </a:r>
            <a:r>
              <a:rPr lang="en-US" sz="8000" dirty="0">
                <a:solidFill>
                  <a:schemeClr val="tx1"/>
                </a:solidFill>
              </a:rPr>
              <a:t>) REFERENCES Room(</a:t>
            </a:r>
            <a:r>
              <a:rPr lang="en-US" sz="8000" dirty="0" err="1">
                <a:solidFill>
                  <a:schemeClr val="tx1"/>
                </a:solidFill>
              </a:rPr>
              <a:t>RoomID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497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64CE60-4DFF-18A6-5D0E-961118B3F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9795676"/>
              </p:ext>
            </p:extLst>
          </p:nvPr>
        </p:nvGraphicFramePr>
        <p:xfrm>
          <a:off x="431800" y="317500"/>
          <a:ext cx="10883900" cy="6299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780">
                  <a:extLst>
                    <a:ext uri="{9D8B030D-6E8A-4147-A177-3AD203B41FA5}">
                      <a16:colId xmlns:a16="http://schemas.microsoft.com/office/drawing/2014/main" val="3535994926"/>
                    </a:ext>
                  </a:extLst>
                </a:gridCol>
                <a:gridCol w="2176780">
                  <a:extLst>
                    <a:ext uri="{9D8B030D-6E8A-4147-A177-3AD203B41FA5}">
                      <a16:colId xmlns:a16="http://schemas.microsoft.com/office/drawing/2014/main" val="3560025292"/>
                    </a:ext>
                  </a:extLst>
                </a:gridCol>
                <a:gridCol w="2176780">
                  <a:extLst>
                    <a:ext uri="{9D8B030D-6E8A-4147-A177-3AD203B41FA5}">
                      <a16:colId xmlns:a16="http://schemas.microsoft.com/office/drawing/2014/main" val="2995496064"/>
                    </a:ext>
                  </a:extLst>
                </a:gridCol>
                <a:gridCol w="2176780">
                  <a:extLst>
                    <a:ext uri="{9D8B030D-6E8A-4147-A177-3AD203B41FA5}">
                      <a16:colId xmlns:a16="http://schemas.microsoft.com/office/drawing/2014/main" val="821551101"/>
                    </a:ext>
                  </a:extLst>
                </a:gridCol>
                <a:gridCol w="2176780">
                  <a:extLst>
                    <a:ext uri="{9D8B030D-6E8A-4147-A177-3AD203B41FA5}">
                      <a16:colId xmlns:a16="http://schemas.microsoft.com/office/drawing/2014/main" val="1489551030"/>
                    </a:ext>
                  </a:extLst>
                </a:gridCol>
              </a:tblGrid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AdmissionID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AdmitDate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DischargeDate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926213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724347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623914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921943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445474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087444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429262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190850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620743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310407"/>
                  </a:ext>
                </a:extLst>
              </a:tr>
              <a:tr h="572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775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137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B2D6-E0C8-918F-972F-AA8EA3BB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63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7.Medicine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1953F-D9A3-5C53-8081-5C960A3EC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485901"/>
            <a:ext cx="8766002" cy="455546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Description:</a:t>
            </a:r>
            <a:r>
              <a:rPr lang="en-US" sz="2400" dirty="0">
                <a:solidFill>
                  <a:schemeClr val="tx1"/>
                </a:solidFill>
              </a:rPr>
              <a:t> Stores medicine details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Attributes: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</a:rPr>
              <a:t>MedicineID</a:t>
            </a:r>
            <a:r>
              <a:rPr lang="en-US" sz="2400" dirty="0">
                <a:solidFill>
                  <a:schemeClr val="tx1"/>
                </a:solidFill>
              </a:rPr>
              <a:t> (Primary Key) </a:t>
            </a:r>
          </a:p>
          <a:p>
            <a:r>
              <a:rPr lang="en-US" sz="2400" dirty="0">
                <a:solidFill>
                  <a:schemeClr val="tx1"/>
                </a:solidFill>
              </a:rPr>
              <a:t>Name </a:t>
            </a:r>
          </a:p>
          <a:p>
            <a:r>
              <a:rPr lang="en-US" sz="2400" dirty="0">
                <a:solidFill>
                  <a:schemeClr val="tx1"/>
                </a:solidFill>
              </a:rPr>
              <a:t>Price </a:t>
            </a:r>
          </a:p>
          <a:p>
            <a:r>
              <a:rPr lang="en-US" sz="2400" dirty="0">
                <a:solidFill>
                  <a:schemeClr val="tx1"/>
                </a:solidFill>
              </a:rPr>
              <a:t>Stock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BC098-F0C9-4A7A-FC54-C3C327C6E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300" y="264782"/>
            <a:ext cx="6997700" cy="699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96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1A84-2A38-0827-90F5-CD03A3BB2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4" y="393704"/>
            <a:ext cx="3854528" cy="71119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Medicine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A304-282B-362A-7EEF-D545EA103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5221739" cy="6012876"/>
          </a:xfrm>
        </p:spPr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Explanation:</a:t>
            </a:r>
          </a:p>
          <a:p>
            <a:r>
              <a:rPr lang="en-US" sz="2000" b="1" dirty="0" err="1"/>
              <a:t>MedicineID</a:t>
            </a:r>
            <a:r>
              <a:rPr lang="en-US" sz="2000" dirty="0"/>
              <a:t> → Unique ID for each medicine </a:t>
            </a:r>
          </a:p>
          <a:p>
            <a:r>
              <a:rPr lang="en-US" sz="2000" b="1" dirty="0"/>
              <a:t>Name</a:t>
            </a:r>
            <a:r>
              <a:rPr lang="en-US" sz="2000" dirty="0"/>
              <a:t> → Medicine name </a:t>
            </a:r>
          </a:p>
          <a:p>
            <a:r>
              <a:rPr lang="en-US" sz="2000" b="1" dirty="0"/>
              <a:t>Price</a:t>
            </a:r>
            <a:r>
              <a:rPr lang="en-US" sz="2000" dirty="0"/>
              <a:t> → Cost of medicine </a:t>
            </a:r>
          </a:p>
          <a:p>
            <a:r>
              <a:rPr lang="en-US" sz="2000" b="1" dirty="0"/>
              <a:t>Stock</a:t>
            </a:r>
            <a:r>
              <a:rPr lang="en-US" sz="2000" dirty="0"/>
              <a:t> → Available quantity in inventory 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33E83-0F4B-B334-4B88-F63EE7A31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199" y="1625600"/>
            <a:ext cx="4303261" cy="4013199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CREATE TABLE Medicine (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</a:t>
            </a:r>
            <a:r>
              <a:rPr lang="en-US" sz="2000" dirty="0" err="1">
                <a:solidFill>
                  <a:schemeClr val="tx1"/>
                </a:solidFill>
              </a:rPr>
              <a:t>MedicineID</a:t>
            </a:r>
            <a:r>
              <a:rPr lang="en-US" sz="2000" dirty="0">
                <a:solidFill>
                  <a:schemeClr val="tx1"/>
                </a:solidFill>
              </a:rPr>
              <a:t> INT PRIMARY KEY,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Name VARCHAR(50),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Price DECIMAL(10,2),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Stock INT</a:t>
            </a:r>
          </a:p>
          <a:p>
            <a:r>
              <a:rPr lang="en-US" sz="2000" dirty="0">
                <a:solidFill>
                  <a:schemeClr val="tx1"/>
                </a:solidFill>
              </a:rPr>
              <a:t>);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999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5D7B62-2487-063D-35B3-7DDAA35A9E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608309"/>
              </p:ext>
            </p:extLst>
          </p:nvPr>
        </p:nvGraphicFramePr>
        <p:xfrm>
          <a:off x="355600" y="304800"/>
          <a:ext cx="10985500" cy="637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375">
                  <a:extLst>
                    <a:ext uri="{9D8B030D-6E8A-4147-A177-3AD203B41FA5}">
                      <a16:colId xmlns:a16="http://schemas.microsoft.com/office/drawing/2014/main" val="132603566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3329500410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1687931904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738689068"/>
                    </a:ext>
                  </a:extLst>
                </a:gridCol>
              </a:tblGrid>
              <a:tr h="6375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597622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476972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63177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96603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391731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873854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82916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6957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787598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2457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697539-D2AD-F261-E6FB-ACB17292A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05583"/>
              </p:ext>
            </p:extLst>
          </p:nvPr>
        </p:nvGraphicFramePr>
        <p:xfrm>
          <a:off x="355600" y="304800"/>
          <a:ext cx="10985500" cy="6375402"/>
        </p:xfrm>
        <a:graphic>
          <a:graphicData uri="http://schemas.openxmlformats.org/drawingml/2006/table">
            <a:tbl>
              <a:tblPr/>
              <a:tblGrid>
                <a:gridCol w="2746375">
                  <a:extLst>
                    <a:ext uri="{9D8B030D-6E8A-4147-A177-3AD203B41FA5}">
                      <a16:colId xmlns:a16="http://schemas.microsoft.com/office/drawing/2014/main" val="2745356233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2461923007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2305657601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2399466437"/>
                    </a:ext>
                  </a:extLst>
                </a:gridCol>
              </a:tblGrid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MedicineID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Name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Price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Stock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265760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401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Paracetamol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262565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402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Ibuprofen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30.00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80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609992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403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Amoxicillin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50.00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60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833058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404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Cetirizine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15.00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120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236486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Azithromycin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70.00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777162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406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Metformin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25.00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90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801479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407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Aspirin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10.00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150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539575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408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Insulin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120.00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30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815054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409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Omeprazole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35.00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75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803243"/>
                  </a:ext>
                </a:extLst>
              </a:tr>
              <a:tr h="579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410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Dolo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25.00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110</a:t>
                      </a:r>
                    </a:p>
                  </a:txBody>
                  <a:tcPr marL="88214" marR="88214" marT="44107" marB="441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357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177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02BE-02CE-3356-1ED8-9D53C467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8.Prescription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6B75C-FE8A-F8AB-7BBE-D0EFAFB6C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435101"/>
            <a:ext cx="8766002" cy="4606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Description:</a:t>
            </a:r>
            <a:r>
              <a:rPr lang="en-US" sz="2400" dirty="0"/>
              <a:t> Stores prescription details</a:t>
            </a:r>
          </a:p>
          <a:p>
            <a:pPr marL="0" indent="0">
              <a:buNone/>
            </a:pPr>
            <a:r>
              <a:rPr lang="en-US" sz="2400" b="1" dirty="0"/>
              <a:t>Attributes:</a:t>
            </a:r>
            <a:endParaRPr lang="en-US" sz="2400" dirty="0"/>
          </a:p>
          <a:p>
            <a:r>
              <a:rPr lang="en-US" sz="2400" dirty="0" err="1"/>
              <a:t>PrescriptionID</a:t>
            </a:r>
            <a:r>
              <a:rPr lang="en-US" sz="2400" dirty="0"/>
              <a:t> (Primary Key) </a:t>
            </a:r>
          </a:p>
          <a:p>
            <a:r>
              <a:rPr lang="en-US" sz="2400" dirty="0" err="1"/>
              <a:t>PatientID</a:t>
            </a:r>
            <a:r>
              <a:rPr lang="en-US" sz="2400" dirty="0"/>
              <a:t> (Foreign Key) </a:t>
            </a:r>
          </a:p>
          <a:p>
            <a:r>
              <a:rPr lang="en-US" sz="2400" dirty="0" err="1"/>
              <a:t>DoctorID</a:t>
            </a:r>
            <a:r>
              <a:rPr lang="en-US" sz="2400" dirty="0"/>
              <a:t> (Foreign Key) </a:t>
            </a:r>
          </a:p>
          <a:p>
            <a:r>
              <a:rPr lang="en-US" sz="2400" dirty="0" err="1"/>
              <a:t>MedicineID</a:t>
            </a:r>
            <a:r>
              <a:rPr lang="en-US" sz="2400" dirty="0"/>
              <a:t> (Foreign Key) </a:t>
            </a:r>
          </a:p>
          <a:p>
            <a:r>
              <a:rPr lang="en-US" sz="2400" dirty="0"/>
              <a:t>Quantity </a:t>
            </a:r>
          </a:p>
          <a:p>
            <a:r>
              <a:rPr lang="en-US" sz="2400" dirty="0"/>
              <a:t>Date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03FB9E-564A-40E8-4E5C-1D087CEC0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25" b="89744" l="9585" r="99681">
                        <a14:foregroundMark x1="49201" y1="37892" x2="60543" y2="26781"/>
                        <a14:foregroundMark x1="60543" y1="26781" x2="56230" y2="21652"/>
                        <a14:foregroundMark x1="56230" y1="21652" x2="59425" y2="19658"/>
                        <a14:foregroundMark x1="60224" y1="18519" x2="42492" y2="26211"/>
                        <a14:foregroundMark x1="42492" y1="26211" x2="52236" y2="16809"/>
                        <a14:foregroundMark x1="52236" y1="16809" x2="49681" y2="21083"/>
                        <a14:foregroundMark x1="51757" y1="21368" x2="49840" y2="29060"/>
                        <a14:foregroundMark x1="49840" y1="29060" x2="49840" y2="39886"/>
                        <a14:foregroundMark x1="86901" y1="50142" x2="92492" y2="38462"/>
                        <a14:foregroundMark x1="92492" y1="38462" x2="92173" y2="31339"/>
                        <a14:foregroundMark x1="92173" y1="31339" x2="97764" y2="13960"/>
                        <a14:foregroundMark x1="97764" y1="13960" x2="88658" y2="4558"/>
                        <a14:foregroundMark x1="88658" y1="4558" x2="76837" y2="5128"/>
                        <a14:foregroundMark x1="76837" y1="5128" x2="73323" y2="1425"/>
                        <a14:foregroundMark x1="93291" y1="3704" x2="95208" y2="53276"/>
                        <a14:foregroundMark x1="95208" y1="53276" x2="91534" y2="62678"/>
                        <a14:foregroundMark x1="91534" y1="62678" x2="88179" y2="64957"/>
                        <a14:foregroundMark x1="92332" y1="67521" x2="99681" y2="49288"/>
                        <a14:foregroundMark x1="89936" y1="68661" x2="80831" y2="71510"/>
                        <a14:foregroundMark x1="80831" y1="72080" x2="40415" y2="79487"/>
                        <a14:foregroundMark x1="40415" y1="79487" x2="33866" y2="76068"/>
                        <a14:foregroundMark x1="33866" y1="76068" x2="27955" y2="67236"/>
                        <a14:foregroundMark x1="27955" y1="67236" x2="22524" y2="65242"/>
                        <a14:foregroundMark x1="22524" y1="65242" x2="22524" y2="65242"/>
                        <a14:foregroundMark x1="37220" y1="50712" x2="39776" y2="41595"/>
                        <a14:foregroundMark x1="39776" y1="41595" x2="37220" y2="49573"/>
                        <a14:foregroundMark x1="37220" y1="49573" x2="41693" y2="37037"/>
                        <a14:foregroundMark x1="41693" y1="37037" x2="39137" y2="43875"/>
                        <a14:foregroundMark x1="43770" y1="16524" x2="31789" y2="24501"/>
                        <a14:foregroundMark x1="31789" y1="24501" x2="19169" y2="46724"/>
                        <a14:foregroundMark x1="18371" y1="49288" x2="19808" y2="32479"/>
                        <a14:foregroundMark x1="19808" y1="32479" x2="14377" y2="43590"/>
                        <a14:foregroundMark x1="14377" y1="43590" x2="14058" y2="52707"/>
                        <a14:foregroundMark x1="13898" y1="54986" x2="18211" y2="49288"/>
                        <a14:foregroundMark x1="18211" y1="49288" x2="25879" y2="43590"/>
                        <a14:foregroundMark x1="25879" y1="43590" x2="27316" y2="44444"/>
                        <a14:foregroundMark x1="62460" y1="28775" x2="63259" y2="27920"/>
                        <a14:foregroundMark x1="18850" y1="70655" x2="12780" y2="61823"/>
                        <a14:foregroundMark x1="12780" y1="61823" x2="14058" y2="66667"/>
                        <a14:foregroundMark x1="12141" y1="70085" x2="15655" y2="61254"/>
                        <a14:foregroundMark x1="15655" y1="61254" x2="14217" y2="66952"/>
                        <a14:foregroundMark x1="13578" y1="73504" x2="11661" y2="82336"/>
                        <a14:foregroundMark x1="11661" y1="82336" x2="13578" y2="78917"/>
                        <a14:foregroundMark x1="14377" y1="78917" x2="17252" y2="85185"/>
                        <a14:foregroundMark x1="21406" y1="84900" x2="29712" y2="84330"/>
                        <a14:foregroundMark x1="29712" y1="84330" x2="39776" y2="85185"/>
                        <a14:foregroundMark x1="39776" y1="85185" x2="49361" y2="83476"/>
                        <a14:foregroundMark x1="49361" y1="83476" x2="64856" y2="84615"/>
                        <a14:foregroundMark x1="64856" y1="84615" x2="99361" y2="77778"/>
                        <a14:foregroundMark x1="60863" y1="23362" x2="60224" y2="19658"/>
                        <a14:foregroundMark x1="64696" y1="24217" x2="65495" y2="11111"/>
                        <a14:foregroundMark x1="65495" y1="11111" x2="63898" y2="7692"/>
                        <a14:foregroundMark x1="66134" y1="6838" x2="67572" y2="3134"/>
                        <a14:foregroundMark x1="67891" y1="2849" x2="67891" y2="28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0"/>
            <a:ext cx="7493000" cy="790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22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8619-CE07-5898-F3E9-872FAD3C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4924"/>
            <a:ext cx="3854528" cy="69157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Prescription Table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10844-1063-9CB6-79DA-7619BAE31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Explanation:</a:t>
            </a:r>
          </a:p>
          <a:p>
            <a:r>
              <a:rPr lang="en-IN" sz="2000" b="1" dirty="0" err="1"/>
              <a:t>PrescriptionID</a:t>
            </a:r>
            <a:r>
              <a:rPr lang="en-IN" sz="2000" dirty="0"/>
              <a:t> → Unique prescription number </a:t>
            </a:r>
          </a:p>
          <a:p>
            <a:r>
              <a:rPr lang="en-IN" sz="2000" b="1" dirty="0" err="1"/>
              <a:t>PatientID</a:t>
            </a:r>
            <a:r>
              <a:rPr lang="en-IN" sz="2000" dirty="0"/>
              <a:t> → Links to Patient table </a:t>
            </a:r>
          </a:p>
          <a:p>
            <a:r>
              <a:rPr lang="en-IN" sz="2000" b="1" dirty="0" err="1"/>
              <a:t>DoctorID</a:t>
            </a:r>
            <a:r>
              <a:rPr lang="en-IN" sz="2000" dirty="0"/>
              <a:t> → Links to Doctor table </a:t>
            </a:r>
          </a:p>
          <a:p>
            <a:r>
              <a:rPr lang="en-IN" sz="2000" b="1" dirty="0" err="1"/>
              <a:t>MedicineID</a:t>
            </a:r>
            <a:r>
              <a:rPr lang="en-IN" sz="2000" dirty="0"/>
              <a:t> → Links to Medicine table </a:t>
            </a:r>
          </a:p>
          <a:p>
            <a:r>
              <a:rPr lang="en-IN" sz="2000" b="1" dirty="0"/>
              <a:t>Quantity</a:t>
            </a:r>
            <a:r>
              <a:rPr lang="en-IN" sz="2000" dirty="0"/>
              <a:t> → Number of medicines prescribed </a:t>
            </a:r>
          </a:p>
          <a:p>
            <a:r>
              <a:rPr lang="en-IN" sz="2000" b="1" dirty="0"/>
              <a:t>Date</a:t>
            </a:r>
            <a:r>
              <a:rPr lang="en-IN" sz="2000" dirty="0"/>
              <a:t> → Date of prescription 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A3034-EE3B-FA5D-AF75-3467A29AF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358900"/>
            <a:ext cx="3854528" cy="4800599"/>
          </a:xfrm>
        </p:spPr>
        <p:txBody>
          <a:bodyPr>
            <a:no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CREATE TABLE Prescription (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</a:t>
            </a:r>
            <a:r>
              <a:rPr lang="en-IN" sz="1600" dirty="0" err="1">
                <a:solidFill>
                  <a:schemeClr val="tx1"/>
                </a:solidFill>
              </a:rPr>
              <a:t>PrescriptionID</a:t>
            </a:r>
            <a:r>
              <a:rPr lang="en-IN" sz="1600" dirty="0">
                <a:solidFill>
                  <a:schemeClr val="tx1"/>
                </a:solidFill>
              </a:rPr>
              <a:t> INT PRIMARY KEY,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</a:t>
            </a:r>
            <a:r>
              <a:rPr lang="en-IN" sz="1600" dirty="0" err="1">
                <a:solidFill>
                  <a:schemeClr val="tx1"/>
                </a:solidFill>
              </a:rPr>
              <a:t>PatientID</a:t>
            </a:r>
            <a:r>
              <a:rPr lang="en-IN" sz="1600" dirty="0">
                <a:solidFill>
                  <a:schemeClr val="tx1"/>
                </a:solidFill>
              </a:rPr>
              <a:t> INT,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</a:t>
            </a:r>
            <a:r>
              <a:rPr lang="en-IN" sz="1600" dirty="0" err="1">
                <a:solidFill>
                  <a:schemeClr val="tx1"/>
                </a:solidFill>
              </a:rPr>
              <a:t>DoctorID</a:t>
            </a:r>
            <a:r>
              <a:rPr lang="en-IN" sz="1600" dirty="0">
                <a:solidFill>
                  <a:schemeClr val="tx1"/>
                </a:solidFill>
              </a:rPr>
              <a:t> INT,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</a:t>
            </a:r>
            <a:r>
              <a:rPr lang="en-IN" sz="1600" dirty="0" err="1">
                <a:solidFill>
                  <a:schemeClr val="tx1"/>
                </a:solidFill>
              </a:rPr>
              <a:t>MedicineID</a:t>
            </a:r>
            <a:r>
              <a:rPr lang="en-IN" sz="1600" dirty="0">
                <a:solidFill>
                  <a:schemeClr val="tx1"/>
                </a:solidFill>
              </a:rPr>
              <a:t> INT,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Quantity INT,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Date </a:t>
            </a:r>
            <a:r>
              <a:rPr lang="en-IN" sz="1600" dirty="0" err="1">
                <a:solidFill>
                  <a:schemeClr val="tx1"/>
                </a:solidFill>
              </a:rPr>
              <a:t>DATE</a:t>
            </a:r>
            <a:r>
              <a:rPr lang="en-IN" sz="1600" dirty="0">
                <a:solidFill>
                  <a:schemeClr val="tx1"/>
                </a:solidFill>
              </a:rPr>
              <a:t>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FOREIGN KEY (</a:t>
            </a:r>
            <a:r>
              <a:rPr lang="en-IN" sz="1600" dirty="0" err="1">
                <a:solidFill>
                  <a:schemeClr val="tx1"/>
                </a:solidFill>
              </a:rPr>
              <a:t>PatientID</a:t>
            </a:r>
            <a:r>
              <a:rPr lang="en-IN" sz="1600" dirty="0">
                <a:solidFill>
                  <a:schemeClr val="tx1"/>
                </a:solidFill>
              </a:rPr>
              <a:t>) REFERENCES Patient(</a:t>
            </a:r>
            <a:r>
              <a:rPr lang="en-IN" sz="1600" dirty="0" err="1">
                <a:solidFill>
                  <a:schemeClr val="tx1"/>
                </a:solidFill>
              </a:rPr>
              <a:t>PatientID</a:t>
            </a:r>
            <a:r>
              <a:rPr lang="en-IN" sz="1600" dirty="0">
                <a:solidFill>
                  <a:schemeClr val="tx1"/>
                </a:solidFill>
              </a:rPr>
              <a:t>),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FOREIGN KEY (</a:t>
            </a:r>
            <a:r>
              <a:rPr lang="en-IN" sz="1600" dirty="0" err="1">
                <a:solidFill>
                  <a:schemeClr val="tx1"/>
                </a:solidFill>
              </a:rPr>
              <a:t>DoctorID</a:t>
            </a:r>
            <a:r>
              <a:rPr lang="en-IN" sz="1600" dirty="0">
                <a:solidFill>
                  <a:schemeClr val="tx1"/>
                </a:solidFill>
              </a:rPr>
              <a:t>) REFERENCES Doctor(</a:t>
            </a:r>
            <a:r>
              <a:rPr lang="en-IN" sz="1600" dirty="0" err="1">
                <a:solidFill>
                  <a:schemeClr val="tx1"/>
                </a:solidFill>
              </a:rPr>
              <a:t>DoctorID</a:t>
            </a:r>
            <a:r>
              <a:rPr lang="en-IN" sz="1600" dirty="0">
                <a:solidFill>
                  <a:schemeClr val="tx1"/>
                </a:solidFill>
              </a:rPr>
              <a:t>),</a:t>
            </a:r>
          </a:p>
          <a:p>
            <a:r>
              <a:rPr lang="en-IN" sz="1600" dirty="0">
                <a:solidFill>
                  <a:schemeClr val="tx1"/>
                </a:solidFill>
              </a:rPr>
              <a:t>    FOREIGN KEY (</a:t>
            </a:r>
            <a:r>
              <a:rPr lang="en-IN" sz="1600" dirty="0" err="1">
                <a:solidFill>
                  <a:schemeClr val="tx1"/>
                </a:solidFill>
              </a:rPr>
              <a:t>MedicineID</a:t>
            </a:r>
            <a:r>
              <a:rPr lang="en-IN" sz="1600" dirty="0">
                <a:solidFill>
                  <a:schemeClr val="tx1"/>
                </a:solidFill>
              </a:rPr>
              <a:t>) REFERENCES Medicine(</a:t>
            </a:r>
            <a:r>
              <a:rPr lang="en-IN" sz="1600" dirty="0" err="1">
                <a:solidFill>
                  <a:schemeClr val="tx1"/>
                </a:solidFill>
              </a:rPr>
              <a:t>MedicineID</a:t>
            </a:r>
            <a:r>
              <a:rPr lang="en-IN" sz="1600" dirty="0">
                <a:solidFill>
                  <a:schemeClr val="tx1"/>
                </a:solidFill>
              </a:rPr>
              <a:t>)</a:t>
            </a:r>
          </a:p>
          <a:p>
            <a:r>
              <a:rPr lang="en-IN" sz="1600" dirty="0">
                <a:solidFill>
                  <a:schemeClr val="tx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84609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0E27D1-29CC-532E-C304-6CC0C44B8D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316444"/>
              </p:ext>
            </p:extLst>
          </p:nvPr>
        </p:nvGraphicFramePr>
        <p:xfrm>
          <a:off x="482600" y="266700"/>
          <a:ext cx="10909302" cy="6045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217">
                  <a:extLst>
                    <a:ext uri="{9D8B030D-6E8A-4147-A177-3AD203B41FA5}">
                      <a16:colId xmlns:a16="http://schemas.microsoft.com/office/drawing/2014/main" val="3192753305"/>
                    </a:ext>
                  </a:extLst>
                </a:gridCol>
                <a:gridCol w="1818217">
                  <a:extLst>
                    <a:ext uri="{9D8B030D-6E8A-4147-A177-3AD203B41FA5}">
                      <a16:colId xmlns:a16="http://schemas.microsoft.com/office/drawing/2014/main" val="4241801701"/>
                    </a:ext>
                  </a:extLst>
                </a:gridCol>
                <a:gridCol w="1818217">
                  <a:extLst>
                    <a:ext uri="{9D8B030D-6E8A-4147-A177-3AD203B41FA5}">
                      <a16:colId xmlns:a16="http://schemas.microsoft.com/office/drawing/2014/main" val="3674615113"/>
                    </a:ext>
                  </a:extLst>
                </a:gridCol>
                <a:gridCol w="1818217">
                  <a:extLst>
                    <a:ext uri="{9D8B030D-6E8A-4147-A177-3AD203B41FA5}">
                      <a16:colId xmlns:a16="http://schemas.microsoft.com/office/drawing/2014/main" val="1966321610"/>
                    </a:ext>
                  </a:extLst>
                </a:gridCol>
                <a:gridCol w="1818217">
                  <a:extLst>
                    <a:ext uri="{9D8B030D-6E8A-4147-A177-3AD203B41FA5}">
                      <a16:colId xmlns:a16="http://schemas.microsoft.com/office/drawing/2014/main" val="1484521700"/>
                    </a:ext>
                  </a:extLst>
                </a:gridCol>
                <a:gridCol w="1818217">
                  <a:extLst>
                    <a:ext uri="{9D8B030D-6E8A-4147-A177-3AD203B41FA5}">
                      <a16:colId xmlns:a16="http://schemas.microsoft.com/office/drawing/2014/main" val="1990194842"/>
                    </a:ext>
                  </a:extLst>
                </a:gridCol>
              </a:tblGrid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PrescriptionID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DoctorID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MedicineID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196781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617965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134850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545939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309784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776116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366902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9503823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788300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337257"/>
                  </a:ext>
                </a:extLst>
              </a:tr>
              <a:tr h="54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321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304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510CB-2316-E576-925E-28F86A7F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9.Billing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BC6FF-1DD1-CA6D-0F92-97E08635D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7501"/>
            <a:ext cx="8596668" cy="445386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tx1"/>
                </a:solidFill>
              </a:rPr>
              <a:t>Definition:</a:t>
            </a:r>
            <a:r>
              <a:rPr lang="en-US" sz="2400" dirty="0" err="1">
                <a:solidFill>
                  <a:schemeClr val="tx1"/>
                </a:solidFill>
              </a:rPr>
              <a:t>Stores</a:t>
            </a:r>
            <a:r>
              <a:rPr lang="en-US" sz="2400" dirty="0">
                <a:solidFill>
                  <a:schemeClr val="tx1"/>
                </a:solidFill>
              </a:rPr>
              <a:t> billing and payment details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Fields: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</a:rPr>
              <a:t>BillID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PatientID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>
                <a:solidFill>
                  <a:schemeClr val="tx1"/>
                </a:solidFill>
              </a:rPr>
              <a:t>Amount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PaymentStatus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BillDate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29765-9353-6973-26C9-DDD839DC5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46" b="99177" l="0" r="89851">
                        <a14:foregroundMark x1="9353" y1="46639" x2="2388" y2="49657"/>
                        <a14:foregroundMark x1="2388" y1="49657" x2="100" y2="99314"/>
                        <a14:foregroundMark x1="100" y1="99314" x2="17811" y2="93278"/>
                        <a14:foregroundMark x1="17811" y1="93278" x2="19104" y2="93278"/>
                        <a14:foregroundMark x1="3582" y1="58573" x2="1891" y2="81344"/>
                        <a14:foregroundMark x1="1891" y1="81344" x2="1891" y2="81344"/>
                        <a14:foregroundMark x1="40896" y1="73663" x2="39303" y2="74486"/>
                        <a14:foregroundMark x1="42388" y1="97394" x2="25274" y2="99314"/>
                        <a14:foregroundMark x1="61194" y1="99588" x2="48856" y2="98217"/>
                        <a14:foregroundMark x1="45572" y1="89849" x2="48458" y2="98903"/>
                        <a14:foregroundMark x1="48458" y1="98903" x2="48458" y2="99040"/>
                        <a14:foregroundMark x1="41493" y1="71605" x2="45274" y2="70370"/>
                        <a14:foregroundMark x1="39303" y1="65158" x2="34527" y2="74623"/>
                        <a14:foregroundMark x1="26567" y1="32785" x2="60896" y2="66941"/>
                        <a14:foregroundMark x1="60896" y1="66941" x2="68259" y2="68587"/>
                        <a14:foregroundMark x1="68259" y1="68587" x2="72338" y2="68587"/>
                        <a14:foregroundMark x1="65970" y1="68176" x2="40896" y2="49657"/>
                        <a14:foregroundMark x1="40896" y1="49657" x2="28955" y2="33196"/>
                        <a14:foregroundMark x1="28955" y1="33196" x2="28259" y2="31139"/>
                        <a14:foregroundMark x1="20697" y1="35254" x2="17413" y2="42250"/>
                        <a14:foregroundMark x1="17413" y1="42250" x2="7463" y2="43759"/>
                        <a14:foregroundMark x1="7463" y1="43759" x2="1194" y2="41838"/>
                        <a14:foregroundMark x1="1194" y1="41838" x2="0" y2="40329"/>
                        <a14:foregroundMark x1="8259" y1="42798" x2="4378" y2="31139"/>
                        <a14:foregroundMark x1="4378" y1="31139" x2="4378" y2="31139"/>
                        <a14:foregroundMark x1="25473" y1="32647" x2="8657" y2="28944"/>
                        <a14:foregroundMark x1="23582" y1="29218" x2="0" y2="24417"/>
                        <a14:foregroundMark x1="25771" y1="28121" x2="1194" y2="20713"/>
                        <a14:foregroundMark x1="1194" y1="20713" x2="1194" y2="20713"/>
                        <a14:foregroundMark x1="29453" y1="26886" x2="18109" y2="14266"/>
                        <a14:foregroundMark x1="32040" y1="28944" x2="32040" y2="19479"/>
                        <a14:foregroundMark x1="32239" y1="14266" x2="24677" y2="22634"/>
                        <a14:foregroundMark x1="24677" y1="22634" x2="23682" y2="22908"/>
                        <a14:foregroundMark x1="19005" y1="6859" x2="5473" y2="18519"/>
                        <a14:foregroundMark x1="5075" y1="3841" x2="2886" y2="8368"/>
                        <a14:foregroundMark x1="10846" y1="1646" x2="19104" y2="4664"/>
                        <a14:foregroundMark x1="19104" y1="4664" x2="19104" y2="4664"/>
                        <a14:foregroundMark x1="19801" y1="4252" x2="31144" y2="9328"/>
                        <a14:foregroundMark x1="4080" y1="3292" x2="2587" y2="4801"/>
                        <a14:foregroundMark x1="18010" y1="3704" x2="28458" y2="7819"/>
                        <a14:foregroundMark x1="19801" y1="3018" x2="37114" y2="8368"/>
                        <a14:foregroundMark x1="37612" y1="11660" x2="34726" y2="25514"/>
                        <a14:foregroundMark x1="34726" y1="25514" x2="34030" y2="26886"/>
                        <a14:foregroundMark x1="36816" y1="5213" x2="37811" y2="15364"/>
                        <a14:foregroundMark x1="37114" y1="2743" x2="40896" y2="15912"/>
                        <a14:foregroundMark x1="38010" y1="3292" x2="38109" y2="21674"/>
                        <a14:foregroundMark x1="38109" y1="21674" x2="38507" y2="21125"/>
                        <a14:foregroundMark x1="40896" y1="27160" x2="40299" y2="327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300" y="0"/>
            <a:ext cx="896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96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AADC-D939-1C03-7598-6CDC8A48B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4924"/>
            <a:ext cx="3854528" cy="98155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Billing Table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EA31-E3F3-A472-CFE0-DDDA87826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Explanation: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BillID</a:t>
            </a:r>
            <a:r>
              <a:rPr lang="en-US" sz="2400" dirty="0">
                <a:solidFill>
                  <a:schemeClr val="tx1"/>
                </a:solidFill>
              </a:rPr>
              <a:t> → Unique bill number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PatientID</a:t>
            </a:r>
            <a:r>
              <a:rPr lang="en-US" sz="2400" dirty="0">
                <a:solidFill>
                  <a:schemeClr val="tx1"/>
                </a:solidFill>
              </a:rPr>
              <a:t> → Links to Patient table </a:t>
            </a:r>
          </a:p>
          <a:p>
            <a:r>
              <a:rPr lang="en-US" sz="2400" dirty="0">
                <a:solidFill>
                  <a:schemeClr val="tx1"/>
                </a:solidFill>
              </a:rPr>
              <a:t>Amount → Total bill amount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PaymentStatus</a:t>
            </a:r>
            <a:r>
              <a:rPr lang="en-US" sz="2400" dirty="0">
                <a:solidFill>
                  <a:schemeClr val="tx1"/>
                </a:solidFill>
              </a:rPr>
              <a:t> → Paid / Unpaid / Pending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BillDate</a:t>
            </a:r>
            <a:r>
              <a:rPr lang="en-US" sz="2400" dirty="0">
                <a:solidFill>
                  <a:schemeClr val="tx1"/>
                </a:solidFill>
              </a:rPr>
              <a:t> → Date of billing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67C1B-348E-740D-2521-F9253FE1A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739901"/>
            <a:ext cx="3854528" cy="4301460"/>
          </a:xfrm>
        </p:spPr>
        <p:txBody>
          <a:bodyPr>
            <a:noAutofit/>
          </a:bodyPr>
          <a:lstStyle/>
          <a:p>
            <a:r>
              <a:rPr lang="en-US" sz="2000" dirty="0"/>
              <a:t>CREATE TABLE Billing (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BillID</a:t>
            </a:r>
            <a:r>
              <a:rPr lang="en-US" sz="2000" dirty="0"/>
              <a:t> INT PRIMARY KEY,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PatientID</a:t>
            </a:r>
            <a:r>
              <a:rPr lang="en-US" sz="2000" dirty="0"/>
              <a:t> INT,</a:t>
            </a:r>
          </a:p>
          <a:p>
            <a:r>
              <a:rPr lang="en-US" sz="2000" dirty="0"/>
              <a:t>    Amount DECIMAL(10,2),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PaymentStatus</a:t>
            </a:r>
            <a:r>
              <a:rPr lang="en-US" sz="2000" dirty="0"/>
              <a:t> VARCHAR(20),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BillDate</a:t>
            </a:r>
            <a:r>
              <a:rPr lang="en-US" sz="2000" dirty="0"/>
              <a:t> DATE,</a:t>
            </a:r>
          </a:p>
          <a:p>
            <a:r>
              <a:rPr lang="en-US" sz="2000" dirty="0"/>
              <a:t>    FOREIGN KEY (</a:t>
            </a:r>
            <a:r>
              <a:rPr lang="en-US" sz="2000" dirty="0" err="1"/>
              <a:t>PatientID</a:t>
            </a:r>
            <a:r>
              <a:rPr lang="en-US" sz="2000" dirty="0"/>
              <a:t>) REFERENCES Patient(</a:t>
            </a:r>
            <a:r>
              <a:rPr lang="en-US" sz="2000" dirty="0" err="1"/>
              <a:t>PatientID</a:t>
            </a:r>
            <a:r>
              <a:rPr lang="en-US" sz="2000" dirty="0"/>
              <a:t>)</a:t>
            </a:r>
          </a:p>
          <a:p>
            <a:r>
              <a:rPr lang="en-US" sz="2000" dirty="0"/>
              <a:t>);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31836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7DA87E1-F7B4-37E4-A228-E4DC93B48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533148"/>
              </p:ext>
            </p:extLst>
          </p:nvPr>
        </p:nvGraphicFramePr>
        <p:xfrm>
          <a:off x="266700" y="457200"/>
          <a:ext cx="11163300" cy="62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660">
                  <a:extLst>
                    <a:ext uri="{9D8B030D-6E8A-4147-A177-3AD203B41FA5}">
                      <a16:colId xmlns:a16="http://schemas.microsoft.com/office/drawing/2014/main" val="1803964695"/>
                    </a:ext>
                  </a:extLst>
                </a:gridCol>
                <a:gridCol w="2232660">
                  <a:extLst>
                    <a:ext uri="{9D8B030D-6E8A-4147-A177-3AD203B41FA5}">
                      <a16:colId xmlns:a16="http://schemas.microsoft.com/office/drawing/2014/main" val="1399352768"/>
                    </a:ext>
                  </a:extLst>
                </a:gridCol>
                <a:gridCol w="2232660">
                  <a:extLst>
                    <a:ext uri="{9D8B030D-6E8A-4147-A177-3AD203B41FA5}">
                      <a16:colId xmlns:a16="http://schemas.microsoft.com/office/drawing/2014/main" val="308827251"/>
                    </a:ext>
                  </a:extLst>
                </a:gridCol>
                <a:gridCol w="2232660">
                  <a:extLst>
                    <a:ext uri="{9D8B030D-6E8A-4147-A177-3AD203B41FA5}">
                      <a16:colId xmlns:a16="http://schemas.microsoft.com/office/drawing/2014/main" val="808580120"/>
                    </a:ext>
                  </a:extLst>
                </a:gridCol>
                <a:gridCol w="2232660">
                  <a:extLst>
                    <a:ext uri="{9D8B030D-6E8A-4147-A177-3AD203B41FA5}">
                      <a16:colId xmlns:a16="http://schemas.microsoft.com/office/drawing/2014/main" val="151446542"/>
                    </a:ext>
                  </a:extLst>
                </a:gridCol>
              </a:tblGrid>
              <a:tr h="923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BillID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BillDate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034520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7235452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447617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026003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04090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436497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91962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450873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2026-02-26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9917748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4200.00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2026-02-27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103267"/>
                  </a:ext>
                </a:extLst>
              </a:tr>
              <a:tr h="535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2026-02-25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898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70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A5BA-DCF0-C80A-DA58-03D2BC713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834" y="2527300"/>
            <a:ext cx="9495366" cy="5181600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solidFill>
                  <a:schemeClr val="accent1">
                    <a:lumMod val="50000"/>
                  </a:schemeClr>
                </a:solidFill>
                <a:latin typeface="Berlin Sans FB Demi" panose="020E0802020502020306" pitchFamily="34" charset="0"/>
              </a:rPr>
              <a:t>Entity-Relationship Diagram (ERD)</a:t>
            </a:r>
          </a:p>
        </p:txBody>
      </p:sp>
    </p:spTree>
    <p:extLst>
      <p:ext uri="{BB962C8B-B14F-4D97-AF65-F5344CB8AC3E}">
        <p14:creationId xmlns:p14="http://schemas.microsoft.com/office/powerpoint/2010/main" val="3227388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CA172E-3DB2-3A43-41CE-E1CF4010C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7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36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5BF0-FC76-E980-619E-5F16E88D0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28270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rgbClr val="002060"/>
                </a:solidFill>
              </a:rPr>
              <a:t>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DDD4B-984E-A811-8405-FCF9EFE0D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092200"/>
            <a:ext cx="8204199" cy="4949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1.Write an SQL query to display the names of patients who belong to city "Delhi". 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Ans: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SELECT Name FROM Patient WHERE Address = 'Delhi'; </a:t>
            </a:r>
            <a:endParaRPr lang="en-IN" sz="28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FA0C05-8A81-36BB-75F3-7615316AC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6933" y1="54498" x2="66294" y2="55709"/>
                        <a14:foregroundMark x1="67732" y1="54671" x2="65495" y2="60208"/>
                        <a14:foregroundMark x1="56230" y1="56055" x2="58307" y2="59343"/>
                        <a14:foregroundMark x1="57348" y1="59343" x2="69010" y2="50000"/>
                        <a14:foregroundMark x1="69010" y1="50000" x2="38818" y2="59689"/>
                        <a14:foregroundMark x1="38818" y1="59689" x2="57188" y2="56055"/>
                        <a14:foregroundMark x1="57188" y1="56055" x2="56709" y2="56401"/>
                        <a14:foregroundMark x1="61342" y1="43253" x2="54633" y2="52768"/>
                        <a14:foregroundMark x1="54633" y1="52768" x2="66134" y2="42215"/>
                        <a14:foregroundMark x1="66134" y1="42215" x2="59904" y2="51211"/>
                        <a14:foregroundMark x1="59904" y1="51211" x2="59265" y2="53806"/>
                        <a14:foregroundMark x1="63898" y1="39965" x2="60224" y2="46713"/>
                        <a14:foregroundMark x1="60224" y1="46713" x2="72524" y2="56574"/>
                        <a14:foregroundMark x1="72524" y1="56574" x2="78275" y2="58304"/>
                        <a14:foregroundMark x1="73003" y1="61246" x2="79233" y2="48443"/>
                        <a14:foregroundMark x1="79233" y1="48443" x2="76518" y2="53287"/>
                        <a14:foregroundMark x1="73482" y1="54671" x2="75879" y2="51038"/>
                        <a14:foregroundMark x1="67732" y1="57785" x2="70288" y2="58824"/>
                        <a14:foregroundMark x1="58466" y1="57439" x2="58946" y2="59343"/>
                        <a14:foregroundMark x1="54473" y1="59689" x2="54792" y2="570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35" y="2178051"/>
            <a:ext cx="4732865" cy="582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6485A0-D101-9E67-86B9-0DD6A03A6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1" y="3949699"/>
            <a:ext cx="8001000" cy="258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31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C694-E4DD-B85A-266B-BEFABB43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2.Write an SQL query to display all rooms with charges greater than 3000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58771-05D4-9192-A3D5-00F00BABC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06600"/>
            <a:ext cx="9431866" cy="97789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Ans: SELECT * FROM Room WHERE Charges &gt; 3000</a:t>
            </a:r>
            <a:r>
              <a:rPr lang="en-US" dirty="0"/>
              <a:t>;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4AD70-613A-E6AA-6658-B1828383E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73681">
            <a:off x="6511647" y="3298495"/>
            <a:ext cx="6421742" cy="4816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F815F8-EA49-3734-2174-9F80864D08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24" y="2756597"/>
            <a:ext cx="6551676" cy="296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96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F2CD-F384-1435-D80B-80546138E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4.Write an SQL query to display doctors who are not ENT specialists.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318AB-BD5B-975C-67C8-6EA40029D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399"/>
            <a:ext cx="8596668" cy="4110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Ans: SELECT * FROM Doctor WHERE Specialization &lt;&gt; 'ENT’;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ED967-A2EC-595A-5613-D6AF8FA80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556">
                        <a14:foregroundMark x1="20000" y1="61667" x2="19444" y2="65000"/>
                        <a14:foregroundMark x1="68333" y1="46111" x2="75000" y2="48333"/>
                        <a14:foregroundMark x1="72778" y1="37222" x2="66111" y2="35556"/>
                        <a14:foregroundMark x1="90556" y1="67778" x2="90556" y2="6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100" y="3695700"/>
            <a:ext cx="4089400" cy="408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F503A4-4ECE-05F7-3B7B-62A2EA090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26" y="2654300"/>
            <a:ext cx="7687748" cy="338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40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682F-E95C-F08D-08FA-8367CB70B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752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5. Write an SQL query to display all patients sorted by age in descending order.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41E12-DD45-ADD3-4084-E90221C69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28899"/>
            <a:ext cx="8596668" cy="85249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Ans: SELECT * FROM Patient ORDER BY Age DESC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45152-0A22-F5DF-1F66-0B30C1428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2014" l="10000" r="90313">
                        <a14:foregroundMark x1="35430" y1="66319" x2="32617" y2="75556"/>
                        <a14:foregroundMark x1="35000" y1="67014" x2="31563" y2="63542"/>
                        <a14:foregroundMark x1="31563" y1="63542" x2="36367" y2="67431"/>
                        <a14:foregroundMark x1="39688" y1="72569" x2="43633" y2="75208"/>
                        <a14:foregroundMark x1="43633" y1="75208" x2="43945" y2="74236"/>
                        <a14:foregroundMark x1="42813" y1="74236" x2="42188" y2="76319"/>
                        <a14:foregroundMark x1="36758" y1="79097" x2="36563" y2="86458"/>
                        <a14:foregroundMark x1="36563" y1="86458" x2="36563" y2="86458"/>
                        <a14:foregroundMark x1="37695" y1="81875" x2="36992" y2="88542"/>
                        <a14:foregroundMark x1="36875" y1="88542" x2="36875" y2="92014"/>
                        <a14:foregroundMark x1="44063" y1="72986" x2="46250" y2="67222"/>
                        <a14:foregroundMark x1="48008" y1="61667" x2="43750" y2="60764"/>
                        <a14:foregroundMark x1="42813" y1="60903" x2="41875" y2="61111"/>
                        <a14:foregroundMark x1="49492" y1="63125" x2="53945" y2="64653"/>
                        <a14:foregroundMark x1="46992" y1="58333" x2="48555" y2="59444"/>
                        <a14:foregroundMark x1="50742" y1="62014" x2="43672" y2="61806"/>
                        <a14:foregroundMark x1="43672" y1="61806" x2="50195" y2="64097"/>
                        <a14:foregroundMark x1="50195" y1="64097" x2="45117" y2="61736"/>
                        <a14:foregroundMark x1="45117" y1="61736" x2="50508" y2="59931"/>
                        <a14:foregroundMark x1="50508" y1="59931" x2="51133" y2="60208"/>
                        <a14:foregroundMark x1="50313" y1="62778" x2="53125" y2="64653"/>
                        <a14:foregroundMark x1="53633" y1="66667" x2="55000" y2="65764"/>
                        <a14:foregroundMark x1="54492" y1="65556" x2="50703" y2="57847"/>
                        <a14:foregroundMark x1="50703" y1="57847" x2="42344" y2="60833"/>
                        <a14:foregroundMark x1="42344" y1="60833" x2="44883" y2="60556"/>
                        <a14:foregroundMark x1="51875" y1="61111" x2="45781" y2="57569"/>
                        <a14:foregroundMark x1="45781" y1="57569" x2="44805" y2="57569"/>
                        <a14:foregroundMark x1="48750" y1="58333" x2="44414" y2="54861"/>
                        <a14:foregroundMark x1="44414" y1="54861" x2="44063" y2="55208"/>
                        <a14:foregroundMark x1="45430" y1="57014" x2="50938" y2="58333"/>
                        <a14:foregroundMark x1="50313" y1="58333" x2="45195" y2="57222"/>
                        <a14:foregroundMark x1="45195" y1="57222" x2="41758" y2="62917"/>
                        <a14:foregroundMark x1="41758" y1="62917" x2="44961" y2="67153"/>
                        <a14:foregroundMark x1="44961" y1="67153" x2="50273" y2="65000"/>
                        <a14:foregroundMark x1="50273" y1="65000" x2="50195" y2="64792"/>
                        <a14:foregroundMark x1="41992" y1="62222" x2="46055" y2="55764"/>
                        <a14:foregroundMark x1="46055" y1="55764" x2="46133" y2="55764"/>
                        <a14:foregroundMark x1="40820" y1="62014" x2="44414" y2="58542"/>
                        <a14:foregroundMark x1="44414" y1="58542" x2="45820" y2="55903"/>
                        <a14:foregroundMark x1="39375" y1="62014" x2="45625" y2="55903"/>
                        <a14:foregroundMark x1="41133" y1="61111" x2="46133" y2="52986"/>
                        <a14:foregroundMark x1="45508" y1="55208" x2="49766" y2="56111"/>
                        <a14:foregroundMark x1="49766" y1="56111" x2="53984" y2="60972"/>
                        <a14:foregroundMark x1="53984" y1="60972" x2="52578" y2="67986"/>
                        <a14:foregroundMark x1="52578" y1="67986" x2="47070" y2="70417"/>
                        <a14:foregroundMark x1="47070" y1="70417" x2="44063" y2="75764"/>
                        <a14:foregroundMark x1="44063" y1="75764" x2="43633" y2="75347"/>
                        <a14:foregroundMark x1="53438" y1="64097" x2="55117" y2="64236"/>
                        <a14:foregroundMark x1="55117" y1="64236" x2="55820" y2="60347"/>
                        <a14:foregroundMark x1="50938" y1="58542" x2="56133" y2="57778"/>
                        <a14:foregroundMark x1="46250" y1="52778" x2="57617" y2="57500"/>
                        <a14:foregroundMark x1="57617" y1="57500" x2="58945" y2="61667"/>
                        <a14:foregroundMark x1="44375" y1="76875" x2="48086" y2="71389"/>
                        <a14:foregroundMark x1="48086" y1="71389" x2="52812" y2="70903"/>
                        <a14:foregroundMark x1="52812" y1="70903" x2="55430" y2="66458"/>
                        <a14:foregroundMark x1="90313" y1="54653" x2="89258" y2="70208"/>
                        <a14:foregroundMark x1="89258" y1="70208" x2="89180" y2="70347"/>
                        <a14:foregroundMark x1="72305" y1="83333" x2="77188" y2="88333"/>
                        <a14:foregroundMark x1="72930" y1="88889" x2="72500" y2="9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734" y="609600"/>
            <a:ext cx="11971866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380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9FEC0-CC80-01EA-5479-97724A9F8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28983"/>
            <a:ext cx="10553700" cy="641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96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6066-10C8-F3B6-15D6-15C6DABB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90500"/>
            <a:ext cx="8596668" cy="11534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6.Write an SQL query to display length of each patient name?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1723B-4642-4D20-2AAD-F68D5A2FB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5901"/>
            <a:ext cx="8596668" cy="558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Ans: SELECT Name, LENGTH(Name) FROM Patient;</a:t>
            </a:r>
            <a:endParaRPr lang="en-IN" sz="24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BE133-8284-4B21-0706-2EE94E227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186650"/>
            <a:ext cx="8365066" cy="4510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2D54E-7A43-A4DB-9622-021D59E9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37600">
            <a:off x="7575867" y="3823214"/>
            <a:ext cx="5354645" cy="401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033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4F1A-CEFD-57C1-A748-DAD20D6A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7.Write an SQL query to display medicines with price between 20 and 100.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67BE-CC8C-C2CD-18A7-A54FFA0A0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Ans: SELECT * FROM Medicine WHERE Price BETWEEN 20 AND 100;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850F6-A206-093A-56CC-5DBA18145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51" y="2819399"/>
            <a:ext cx="7313149" cy="34901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658D7C-2242-B5E2-84DD-0F37ED527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6000" y1="57778" x2="35600" y2="62778"/>
                        <a14:foregroundMark x1="35600" y1="62778" x2="38400" y2="6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3764457"/>
            <a:ext cx="457200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13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CDD-39B4-97B4-2BF8-51A49EAD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8.Write an SQL query to display patients whose names end with 'n</a:t>
            </a:r>
            <a:r>
              <a:rPr lang="en-US" dirty="0">
                <a:solidFill>
                  <a:schemeClr val="tx1"/>
                </a:solidFill>
              </a:rPr>
              <a:t>’.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D50C8-BAC9-5493-4D06-EB8FC9810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2044700"/>
            <a:ext cx="8753302" cy="399666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Ans: SELECT * FROM Patient WHERE Name LIKE '%n';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A8025-82F2-4618-040F-8DB1F1970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84" y="2847476"/>
            <a:ext cx="8444218" cy="2947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2014F8-016C-0DA9-6CA6-CE0870F7F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3889" r="91111">
                        <a14:foregroundMark x1="19444" y1="65000" x2="3889" y2="58889"/>
                        <a14:foregroundMark x1="3889" y1="58889" x2="5000" y2="58889"/>
                        <a14:foregroundMark x1="12222" y1="66667" x2="22778" y2="66667"/>
                        <a14:foregroundMark x1="13889" y1="60556" x2="20556" y2="61667"/>
                        <a14:foregroundMark x1="19444" y1="61111" x2="15000" y2="58333"/>
                        <a14:foregroundMark x1="88333" y1="62778" x2="73889" y2="45556"/>
                        <a14:foregroundMark x1="73889" y1="45556" x2="74444" y2="42778"/>
                        <a14:foregroundMark x1="91111" y1="67778" x2="60000" y2="63889"/>
                        <a14:foregroundMark x1="40556" y1="72778" x2="88333" y2="68333"/>
                        <a14:foregroundMark x1="44444" y1="56667" x2="20556" y2="56111"/>
                        <a14:foregroundMark x1="20556" y1="56111" x2="18889" y2="55556"/>
                        <a14:foregroundMark x1="6667" y1="59444" x2="35556" y2="72222"/>
                        <a14:foregroundMark x1="25556" y1="67222" x2="25556" y2="67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33451">
            <a:off x="8598311" y="4222682"/>
            <a:ext cx="3688276" cy="291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386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7912-7F30-D848-BD61-0CA66354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9.Write an SQL query to find total billing amount.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FC2C-67EA-B22D-924D-0C50129CF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Ans: SELECT SUM(Amount) FROM Billing;</a:t>
            </a:r>
            <a:endParaRPr lang="en-IN" sz="24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3BB61-BFF2-EAD8-DAEF-69252059D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2917434"/>
            <a:ext cx="8238311" cy="2505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2A09CB-DC49-61FF-485A-FDA3FABD4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287" y1="55000" x2="38372" y2="52778"/>
                        <a14:foregroundMark x1="47287" y1="52778" x2="39147" y2="30000"/>
                        <a14:foregroundMark x1="40698" y1="33333" x2="32558" y2="30000"/>
                        <a14:foregroundMark x1="54264" y1="57222" x2="53488" y2="47778"/>
                        <a14:foregroundMark x1="21318" y1="70000" x2="11240" y2="72778"/>
                        <a14:foregroundMark x1="45349" y1="72222" x2="57364" y2="69444"/>
                        <a14:foregroundMark x1="53101" y1="69444" x2="69767" y2="72778"/>
                        <a14:foregroundMark x1="69767" y1="72778" x2="69380" y2="72778"/>
                        <a14:foregroundMark x1="52326" y1="70556" x2="50388" y2="70000"/>
                        <a14:foregroundMark x1="53101" y1="85556" x2="61628" y2="87222"/>
                        <a14:foregroundMark x1="77907" y1="76111" x2="69380" y2="68333"/>
                        <a14:foregroundMark x1="34884" y1="22222" x2="37209" y2="32222"/>
                        <a14:foregroundMark x1="25969" y1="26667" x2="25581" y2="45556"/>
                        <a14:foregroundMark x1="24806" y1="32222" x2="25581" y2="50556"/>
                        <a14:foregroundMark x1="25581" y1="50556" x2="25194" y2="51667"/>
                        <a14:foregroundMark x1="35659" y1="21667" x2="39535" y2="27778"/>
                        <a14:foregroundMark x1="38372" y1="23333" x2="58527" y2="27778"/>
                        <a14:foregroundMark x1="39147" y1="15000" x2="63953" y2="20000"/>
                        <a14:foregroundMark x1="63953" y1="20000" x2="69767" y2="41111"/>
                        <a14:foregroundMark x1="69767" y1="41111" x2="69767" y2="41667"/>
                        <a14:foregroundMark x1="69767" y1="41667" x2="80233" y2="59444"/>
                        <a14:foregroundMark x1="83333" y1="65556" x2="82946" y2="7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426" y="3581068"/>
            <a:ext cx="5061573" cy="372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40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F1DDA-6F66-B5BE-8A77-9A0E77D0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10.Write an SQL query to display patient name and room type.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E2F75-51F1-4BA8-BF38-CFEB15B8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9215966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tx1"/>
                </a:solidFill>
              </a:rPr>
              <a:t>Ans: SELECT </a:t>
            </a:r>
            <a:r>
              <a:rPr lang="en-IN" sz="2000" b="1" dirty="0" err="1">
                <a:solidFill>
                  <a:schemeClr val="tx1"/>
                </a:solidFill>
              </a:rPr>
              <a:t>p.Name</a:t>
            </a:r>
            <a:r>
              <a:rPr lang="en-IN" sz="2000" b="1" dirty="0">
                <a:solidFill>
                  <a:schemeClr val="tx1"/>
                </a:solidFill>
              </a:rPr>
              <a:t>, </a:t>
            </a:r>
            <a:r>
              <a:rPr lang="en-IN" sz="2000" b="1" dirty="0" err="1">
                <a:solidFill>
                  <a:schemeClr val="tx1"/>
                </a:solidFill>
              </a:rPr>
              <a:t>r.RoomType</a:t>
            </a:r>
            <a:r>
              <a:rPr lang="en-IN" sz="2000" b="1" dirty="0">
                <a:solidFill>
                  <a:schemeClr val="tx1"/>
                </a:solidFill>
              </a:rPr>
              <a:t> FROM Admission a JOIN Patient p ON </a:t>
            </a:r>
            <a:r>
              <a:rPr lang="en-IN" sz="2000" b="1" dirty="0" err="1">
                <a:solidFill>
                  <a:schemeClr val="tx1"/>
                </a:solidFill>
              </a:rPr>
              <a:t>a.PatientID</a:t>
            </a:r>
            <a:r>
              <a:rPr lang="en-IN" sz="2000" b="1" dirty="0">
                <a:solidFill>
                  <a:schemeClr val="tx1"/>
                </a:solidFill>
              </a:rPr>
              <a:t> = </a:t>
            </a:r>
            <a:r>
              <a:rPr lang="en-IN" sz="2000" b="1" dirty="0" err="1">
                <a:solidFill>
                  <a:schemeClr val="tx1"/>
                </a:solidFill>
              </a:rPr>
              <a:t>p.PatientID</a:t>
            </a:r>
            <a:r>
              <a:rPr lang="en-IN" sz="2000" b="1" dirty="0">
                <a:solidFill>
                  <a:schemeClr val="tx1"/>
                </a:solidFill>
              </a:rPr>
              <a:t> JOIN Room r ON </a:t>
            </a:r>
            <a:r>
              <a:rPr lang="en-IN" sz="2000" b="1" dirty="0" err="1">
                <a:solidFill>
                  <a:schemeClr val="tx1"/>
                </a:solidFill>
              </a:rPr>
              <a:t>a.RoomID</a:t>
            </a:r>
            <a:r>
              <a:rPr lang="en-IN" sz="2000" b="1" dirty="0">
                <a:solidFill>
                  <a:schemeClr val="tx1"/>
                </a:solidFill>
              </a:rPr>
              <a:t> = </a:t>
            </a:r>
            <a:r>
              <a:rPr lang="en-IN" sz="2000" b="1" dirty="0" err="1">
                <a:solidFill>
                  <a:schemeClr val="tx1"/>
                </a:solidFill>
              </a:rPr>
              <a:t>r.RoomID</a:t>
            </a:r>
            <a:r>
              <a:rPr lang="en-IN" sz="2000" b="1" dirty="0">
                <a:solidFill>
                  <a:schemeClr val="tx1"/>
                </a:solidFill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00C46-F4BB-368D-86F0-654867540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431" y="2705100"/>
            <a:ext cx="6720479" cy="3810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2969E5-19FC-57A1-DCD6-416E27D5F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154" y1="21967" x2="39000" y2="14017"/>
                        <a14:foregroundMark x1="47538" y1="24372" x2="47538" y2="24372"/>
                        <a14:foregroundMark x1="46462" y1="34833" x2="43462" y2="46234"/>
                        <a14:foregroundMark x1="43462" y1="46234" x2="43462" y2="46548"/>
                        <a14:foregroundMark x1="50538" y1="39435" x2="53308" y2="48954"/>
                        <a14:foregroundMark x1="53308" y1="48954" x2="53308" y2="49268"/>
                        <a14:foregroundMark x1="55231" y1="15481" x2="58231" y2="23326"/>
                        <a14:foregroundMark x1="56308" y1="46339" x2="62615" y2="55858"/>
                        <a14:foregroundMark x1="62615" y1="55858" x2="62308" y2="55858"/>
                        <a14:foregroundMark x1="54154" y1="78243" x2="46231" y2="77824"/>
                        <a14:foregroundMark x1="39846" y1="77615" x2="34154" y2="71548"/>
                        <a14:foregroundMark x1="34154" y1="71548" x2="33846" y2="70711"/>
                        <a14:foregroundMark x1="42000" y1="57636" x2="42000" y2="57636"/>
                        <a14:foregroundMark x1="37077" y1="51464" x2="36000" y2="57636"/>
                        <a14:foregroundMark x1="34231" y1="54812" x2="34462" y2="76255"/>
                        <a14:foregroundMark x1="39385" y1="77824" x2="47769" y2="78243"/>
                        <a14:foregroundMark x1="49923" y1="86506" x2="52231" y2="85565"/>
                        <a14:foregroundMark x1="60846" y1="85565" x2="61231" y2="85983"/>
                        <a14:foregroundMark x1="45846" y1="89331" x2="45846" y2="89331"/>
                        <a14:foregroundMark x1="40923" y1="85774" x2="44538" y2="81172"/>
                        <a14:foregroundMark x1="56077" y1="82950" x2="56077" y2="82950"/>
                        <a14:foregroundMark x1="58462" y1="81381" x2="55923" y2="80753"/>
                        <a14:foregroundMark x1="50538" y1="74268" x2="50538" y2="74268"/>
                        <a14:foregroundMark x1="61231" y1="84728" x2="59769" y2="84205"/>
                        <a14:foregroundMark x1="58000" y1="84205" x2="58000" y2="84205"/>
                        <a14:foregroundMark x1="58000" y1="82741" x2="55692" y2="85565"/>
                        <a14:foregroundMark x1="50077" y1="85983" x2="39077" y2="84937"/>
                        <a14:foregroundMark x1="39077" y1="84937" x2="38308" y2="83787"/>
                        <a14:foregroundMark x1="52692" y1="79393" x2="52923" y2="80962"/>
                        <a14:backgroundMark x1="17769" y1="83577" x2="21231" y2="75628"/>
                        <a14:backgroundMark x1="19923" y1="81590" x2="29692" y2="86192"/>
                        <a14:backgroundMark x1="29692" y1="86192" x2="38984" y2="86000"/>
                        <a14:backgroundMark x1="32154" y1="85565" x2="38933" y2="85831"/>
                        <a14:backgroundMark x1="60575" y1="83097" x2="71923" y2="79393"/>
                        <a14:backgroundMark x1="52115" y1="85858" x2="55095" y2="84885"/>
                        <a14:backgroundMark x1="69769" y1="68515" x2="74769" y2="85356"/>
                        <a14:backgroundMark x1="77538" y1="69665" x2="77923" y2="79603"/>
                        <a14:backgroundMark x1="77923" y1="79603" x2="82000" y2="84937"/>
                        <a14:backgroundMark x1="80538" y1="60774" x2="73462" y2="76255"/>
                        <a14:backgroundMark x1="73462" y1="76255" x2="73231" y2="78243"/>
                        <a14:backgroundMark x1="57846" y1="77615" x2="68077" y2="63180"/>
                        <a14:backgroundMark x1="41077" y1="89749" x2="23538" y2="64121"/>
                        <a14:backgroundMark x1="23538" y1="64121" x2="23769" y2="649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952" y="1473200"/>
            <a:ext cx="6720479" cy="57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600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8A8D-4FBD-C433-7EEF-35BFA9408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15907-7337-CA92-3F00-209F7F9C1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841501"/>
            <a:ext cx="8715202" cy="4199862"/>
          </a:xfrm>
        </p:spPr>
        <p:txBody>
          <a:bodyPr/>
          <a:lstStyle/>
          <a:p>
            <a:r>
              <a:rPr lang="en-US" sz="2400" dirty="0"/>
              <a:t>Normalization is the process of organizing a database to reduce data redundancy and avoid anomalies. </a:t>
            </a:r>
          </a:p>
          <a:p>
            <a:r>
              <a:rPr lang="en-US" sz="2400" dirty="0"/>
              <a:t>It divides large tables into smaller related tables and arranges them into normal forms like 1NF, 2NF, 3NF,</a:t>
            </a:r>
            <a:r>
              <a:rPr lang="en-IN" sz="2400" dirty="0"/>
              <a:t> BCNF</a:t>
            </a:r>
            <a:r>
              <a:rPr lang="en-US" sz="2400" dirty="0"/>
              <a:t> to maintain data integrity.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9C21B-8B7E-E758-9742-687AADBD7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4025900"/>
            <a:ext cx="11125200" cy="26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423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4958-9CBB-C376-82BC-BB37F6B92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634" y="86360"/>
            <a:ext cx="8072966" cy="5334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  <a:latin typeface="Arial Black" panose="020B0A04020102020204" pitchFamily="34" charset="0"/>
              </a:rPr>
              <a:t>BEFORE NORMALIZATION TABLE</a:t>
            </a:r>
            <a:br>
              <a:rPr lang="en-IN" b="1" dirty="0">
                <a:solidFill>
                  <a:schemeClr val="tx1"/>
                </a:solidFill>
              </a:rPr>
            </a:br>
            <a:br>
              <a:rPr lang="en-IN" b="1" dirty="0">
                <a:solidFill>
                  <a:schemeClr val="tx1"/>
                </a:solidFill>
              </a:rPr>
            </a:b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B9E8F1-283B-A159-69EA-6E7D0EEB5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571475"/>
              </p:ext>
            </p:extLst>
          </p:nvPr>
        </p:nvGraphicFramePr>
        <p:xfrm>
          <a:off x="317500" y="1193800"/>
          <a:ext cx="11645904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738">
                  <a:extLst>
                    <a:ext uri="{9D8B030D-6E8A-4147-A177-3AD203B41FA5}">
                      <a16:colId xmlns:a16="http://schemas.microsoft.com/office/drawing/2014/main" val="616640144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3056865822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1195929392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2565009284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2176163299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222881925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3139924598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408061725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Patient_ID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Doctor_Name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Room_Type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Medicine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5664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Paracetamol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60158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Paracetamol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157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Aspirin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2062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Aspirin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1497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Orthopedic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Ibuprofen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23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Orthopedic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Ibuprofen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3104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Cetrizine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6322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Cetrizine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009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Mehta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Neurobion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89990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Mehta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Neurobion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7232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Aspirin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9998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Aspirin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3916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9B3812-F444-0345-1175-BDE572385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36765"/>
              </p:ext>
            </p:extLst>
          </p:nvPr>
        </p:nvGraphicFramePr>
        <p:xfrm>
          <a:off x="317500" y="723900"/>
          <a:ext cx="11252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2200">
                  <a:extLst>
                    <a:ext uri="{9D8B030D-6E8A-4147-A177-3AD203B41FA5}">
                      <a16:colId xmlns:a16="http://schemas.microsoft.com/office/drawing/2014/main" val="2966522664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Table: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Hospital_Dump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86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7939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2BC0-4E09-9BCF-1FA4-DE9EF110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03200"/>
            <a:ext cx="8596668" cy="61343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  <a:latin typeface="Arial Black" panose="020B0A04020102020204" pitchFamily="34" charset="0"/>
              </a:rPr>
              <a:t>FIRST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173DA3-1BC0-FCC2-6E76-3CFE4BC5A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614947"/>
              </p:ext>
            </p:extLst>
          </p:nvPr>
        </p:nvGraphicFramePr>
        <p:xfrm>
          <a:off x="677335" y="1981201"/>
          <a:ext cx="419946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992">
                  <a:extLst>
                    <a:ext uri="{9D8B030D-6E8A-4147-A177-3AD203B41FA5}">
                      <a16:colId xmlns:a16="http://schemas.microsoft.com/office/drawing/2014/main" val="4235560618"/>
                    </a:ext>
                  </a:extLst>
                </a:gridCol>
                <a:gridCol w="2228473">
                  <a:extLst>
                    <a:ext uri="{9D8B030D-6E8A-4147-A177-3AD203B41FA5}">
                      <a16:colId xmlns:a16="http://schemas.microsoft.com/office/drawing/2014/main" val="823422149"/>
                    </a:ext>
                  </a:extLst>
                </a:gridCol>
              </a:tblGrid>
              <a:tr h="337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PatientID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42216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3926905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97922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511090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902275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901401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Simran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7693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82F947-6E5F-F3BA-57EA-8EB68590A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352282"/>
              </p:ext>
            </p:extLst>
          </p:nvPr>
        </p:nvGraphicFramePr>
        <p:xfrm>
          <a:off x="677334" y="1574800"/>
          <a:ext cx="4199465" cy="4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465">
                  <a:extLst>
                    <a:ext uri="{9D8B030D-6E8A-4147-A177-3AD203B41FA5}">
                      <a16:colId xmlns:a16="http://schemas.microsoft.com/office/drawing/2014/main" val="1667638296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IN" dirty="0"/>
                        <a:t>Patient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7427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01CCBE-3ED7-EA62-EF87-38E973E6004A}"/>
              </a:ext>
            </a:extLst>
          </p:cNvPr>
          <p:cNvSpPr txBox="1"/>
          <p:nvPr/>
        </p:nvSpPr>
        <p:spPr>
          <a:xfrm>
            <a:off x="677334" y="1011053"/>
            <a:ext cx="349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1NF TABLES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9AE0C3-0769-CE65-78C2-045B27D5D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448680"/>
              </p:ext>
            </p:extLst>
          </p:nvPr>
        </p:nvGraphicFramePr>
        <p:xfrm>
          <a:off x="5346700" y="1425506"/>
          <a:ext cx="5435598" cy="1838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709">
                  <a:extLst>
                    <a:ext uri="{9D8B030D-6E8A-4147-A177-3AD203B41FA5}">
                      <a16:colId xmlns:a16="http://schemas.microsoft.com/office/drawing/2014/main" val="940693915"/>
                    </a:ext>
                  </a:extLst>
                </a:gridCol>
                <a:gridCol w="2267664">
                  <a:extLst>
                    <a:ext uri="{9D8B030D-6E8A-4147-A177-3AD203B41FA5}">
                      <a16:colId xmlns:a16="http://schemas.microsoft.com/office/drawing/2014/main" val="1751773047"/>
                    </a:ext>
                  </a:extLst>
                </a:gridCol>
                <a:gridCol w="1881225">
                  <a:extLst>
                    <a:ext uri="{9D8B030D-6E8A-4147-A177-3AD203B41FA5}">
                      <a16:colId xmlns:a16="http://schemas.microsoft.com/office/drawing/2014/main" val="2805759397"/>
                    </a:ext>
                  </a:extLst>
                </a:gridCol>
              </a:tblGrid>
              <a:tr h="367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DoctorID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DoctorName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577005"/>
                  </a:ext>
                </a:extLst>
              </a:tr>
              <a:tr h="367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Dr.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979552"/>
                  </a:ext>
                </a:extLst>
              </a:tr>
              <a:tr h="367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Dr.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320289"/>
                  </a:ext>
                </a:extLst>
              </a:tr>
              <a:tr h="367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Dr.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Orthopedic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04343"/>
                  </a:ext>
                </a:extLst>
              </a:tr>
              <a:tr h="367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Dr. Mehta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Neurology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72817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D8BEC0-B68C-DA8C-5328-A7E23D77E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553337"/>
              </p:ext>
            </p:extLst>
          </p:nvPr>
        </p:nvGraphicFramePr>
        <p:xfrm>
          <a:off x="5346700" y="1027666"/>
          <a:ext cx="5435598" cy="369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5598">
                  <a:extLst>
                    <a:ext uri="{9D8B030D-6E8A-4147-A177-3AD203B41FA5}">
                      <a16:colId xmlns:a16="http://schemas.microsoft.com/office/drawing/2014/main" val="3019682015"/>
                    </a:ext>
                  </a:extLst>
                </a:gridCol>
              </a:tblGrid>
              <a:tr h="369333">
                <a:tc>
                  <a:txBody>
                    <a:bodyPr/>
                    <a:lstStyle/>
                    <a:p>
                      <a:r>
                        <a:rPr lang="en-IN" dirty="0"/>
                        <a:t>Doctor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6066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FCF93C4-7891-8314-ADE0-08E84E4F5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25410"/>
              </p:ext>
            </p:extLst>
          </p:nvPr>
        </p:nvGraphicFramePr>
        <p:xfrm>
          <a:off x="584200" y="5039364"/>
          <a:ext cx="4292601" cy="1615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867">
                  <a:extLst>
                    <a:ext uri="{9D8B030D-6E8A-4147-A177-3AD203B41FA5}">
                      <a16:colId xmlns:a16="http://schemas.microsoft.com/office/drawing/2014/main" val="1143983342"/>
                    </a:ext>
                  </a:extLst>
                </a:gridCol>
                <a:gridCol w="1430867">
                  <a:extLst>
                    <a:ext uri="{9D8B030D-6E8A-4147-A177-3AD203B41FA5}">
                      <a16:colId xmlns:a16="http://schemas.microsoft.com/office/drawing/2014/main" val="1812265439"/>
                    </a:ext>
                  </a:extLst>
                </a:gridCol>
                <a:gridCol w="1430867">
                  <a:extLst>
                    <a:ext uri="{9D8B030D-6E8A-4147-A177-3AD203B41FA5}">
                      <a16:colId xmlns:a16="http://schemas.microsoft.com/office/drawing/2014/main" val="561893662"/>
                    </a:ext>
                  </a:extLst>
                </a:gridCol>
              </a:tblGrid>
              <a:tr h="403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RoomID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007444"/>
                  </a:ext>
                </a:extLst>
              </a:tr>
              <a:tr h="403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398083"/>
                  </a:ext>
                </a:extLst>
              </a:tr>
              <a:tr h="403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504988"/>
                  </a:ext>
                </a:extLst>
              </a:tr>
              <a:tr h="403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5195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6AAF47-8E61-4F4A-655E-CE26B3F87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0739"/>
              </p:ext>
            </p:extLst>
          </p:nvPr>
        </p:nvGraphicFramePr>
        <p:xfrm>
          <a:off x="584198" y="4777739"/>
          <a:ext cx="4292601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2601">
                  <a:extLst>
                    <a:ext uri="{9D8B030D-6E8A-4147-A177-3AD203B41FA5}">
                      <a16:colId xmlns:a16="http://schemas.microsoft.com/office/drawing/2014/main" val="3248667467"/>
                    </a:ext>
                  </a:extLst>
                </a:gridCol>
              </a:tblGrid>
              <a:tr h="261625">
                <a:tc>
                  <a:txBody>
                    <a:bodyPr/>
                    <a:lstStyle/>
                    <a:p>
                      <a:r>
                        <a:rPr lang="en-IN" dirty="0"/>
                        <a:t>Room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25921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A7D77E-CA3E-0361-EAFB-E0AD6946D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905866"/>
              </p:ext>
            </p:extLst>
          </p:nvPr>
        </p:nvGraphicFramePr>
        <p:xfrm>
          <a:off x="5867398" y="4267200"/>
          <a:ext cx="5740402" cy="2385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201">
                  <a:extLst>
                    <a:ext uri="{9D8B030D-6E8A-4147-A177-3AD203B41FA5}">
                      <a16:colId xmlns:a16="http://schemas.microsoft.com/office/drawing/2014/main" val="2129546838"/>
                    </a:ext>
                  </a:extLst>
                </a:gridCol>
                <a:gridCol w="2870201">
                  <a:extLst>
                    <a:ext uri="{9D8B030D-6E8A-4147-A177-3AD203B41FA5}">
                      <a16:colId xmlns:a16="http://schemas.microsoft.com/office/drawing/2014/main" val="3448358124"/>
                    </a:ext>
                  </a:extLst>
                </a:gridCol>
              </a:tblGrid>
              <a:tr h="397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MedicineID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MedicineName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0597"/>
                  </a:ext>
                </a:extLst>
              </a:tr>
              <a:tr h="397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Paracetamol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625905"/>
                  </a:ext>
                </a:extLst>
              </a:tr>
              <a:tr h="397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Aspirin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677667"/>
                  </a:ext>
                </a:extLst>
              </a:tr>
              <a:tr h="397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Ibuprofen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27108"/>
                  </a:ext>
                </a:extLst>
              </a:tr>
              <a:tr h="397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Cetrizine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429077"/>
                  </a:ext>
                </a:extLst>
              </a:tr>
              <a:tr h="397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Neurobion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18647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3A1DAC1-B72F-BF04-6C70-E9BEBAEAA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048064"/>
              </p:ext>
            </p:extLst>
          </p:nvPr>
        </p:nvGraphicFramePr>
        <p:xfrm>
          <a:off x="5867398" y="3799839"/>
          <a:ext cx="5740402" cy="369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0402">
                  <a:extLst>
                    <a:ext uri="{9D8B030D-6E8A-4147-A177-3AD203B41FA5}">
                      <a16:colId xmlns:a16="http://schemas.microsoft.com/office/drawing/2014/main" val="2111676450"/>
                    </a:ext>
                  </a:extLst>
                </a:gridCol>
              </a:tblGrid>
              <a:tr h="369333">
                <a:tc>
                  <a:txBody>
                    <a:bodyPr/>
                    <a:lstStyle/>
                    <a:p>
                      <a:r>
                        <a:rPr lang="en-IN" dirty="0"/>
                        <a:t>Medicine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093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9474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B29-ED3F-7F96-D762-FEDF4EA2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1600"/>
            <a:ext cx="8596668" cy="8255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SECOND NORMAL FORM (2NF)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D3298D-3B29-9745-5432-07A8777A4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439838"/>
              </p:ext>
            </p:extLst>
          </p:nvPr>
        </p:nvGraphicFramePr>
        <p:xfrm>
          <a:off x="677863" y="1549400"/>
          <a:ext cx="5227637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411">
                  <a:extLst>
                    <a:ext uri="{9D8B030D-6E8A-4147-A177-3AD203B41FA5}">
                      <a16:colId xmlns:a16="http://schemas.microsoft.com/office/drawing/2014/main" val="3852698828"/>
                    </a:ext>
                  </a:extLst>
                </a:gridCol>
                <a:gridCol w="1213094">
                  <a:extLst>
                    <a:ext uri="{9D8B030D-6E8A-4147-A177-3AD203B41FA5}">
                      <a16:colId xmlns:a16="http://schemas.microsoft.com/office/drawing/2014/main" val="2367409426"/>
                    </a:ext>
                  </a:extLst>
                </a:gridCol>
                <a:gridCol w="1213094">
                  <a:extLst>
                    <a:ext uri="{9D8B030D-6E8A-4147-A177-3AD203B41FA5}">
                      <a16:colId xmlns:a16="http://schemas.microsoft.com/office/drawing/2014/main" val="3062217672"/>
                    </a:ext>
                  </a:extLst>
                </a:gridCol>
                <a:gridCol w="1017038">
                  <a:extLst>
                    <a:ext uri="{9D8B030D-6E8A-4147-A177-3AD203B41FA5}">
                      <a16:colId xmlns:a16="http://schemas.microsoft.com/office/drawing/2014/main" val="1262377011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AppointmentID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PatientID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DoctorID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86355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36414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859885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67820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93731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29842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9424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526D78-0371-1B79-8F4E-8EA7AC09E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940137"/>
              </p:ext>
            </p:extLst>
          </p:nvPr>
        </p:nvGraphicFramePr>
        <p:xfrm>
          <a:off x="6286502" y="1701800"/>
          <a:ext cx="5778497" cy="4279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536">
                  <a:extLst>
                    <a:ext uri="{9D8B030D-6E8A-4147-A177-3AD203B41FA5}">
                      <a16:colId xmlns:a16="http://schemas.microsoft.com/office/drawing/2014/main" val="1100587843"/>
                    </a:ext>
                  </a:extLst>
                </a:gridCol>
                <a:gridCol w="1583647">
                  <a:extLst>
                    <a:ext uri="{9D8B030D-6E8A-4147-A177-3AD203B41FA5}">
                      <a16:colId xmlns:a16="http://schemas.microsoft.com/office/drawing/2014/main" val="3674088988"/>
                    </a:ext>
                  </a:extLst>
                </a:gridCol>
                <a:gridCol w="1349257">
                  <a:extLst>
                    <a:ext uri="{9D8B030D-6E8A-4147-A177-3AD203B41FA5}">
                      <a16:colId xmlns:a16="http://schemas.microsoft.com/office/drawing/2014/main" val="966146773"/>
                    </a:ext>
                  </a:extLst>
                </a:gridCol>
                <a:gridCol w="1141057">
                  <a:extLst>
                    <a:ext uri="{9D8B030D-6E8A-4147-A177-3AD203B41FA5}">
                      <a16:colId xmlns:a16="http://schemas.microsoft.com/office/drawing/2014/main" val="3408795193"/>
                    </a:ext>
                  </a:extLst>
                </a:gridCol>
              </a:tblGrid>
              <a:tr h="804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PrescriptionID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AppointmentID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MedicineID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Quantity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562999"/>
                  </a:ext>
                </a:extLst>
              </a:tr>
              <a:tr h="579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623514"/>
                  </a:ext>
                </a:extLst>
              </a:tr>
              <a:tr h="579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3663953"/>
                  </a:ext>
                </a:extLst>
              </a:tr>
              <a:tr h="579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0822343"/>
                  </a:ext>
                </a:extLst>
              </a:tr>
              <a:tr h="579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31509"/>
                  </a:ext>
                </a:extLst>
              </a:tr>
              <a:tr h="579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459672"/>
                  </a:ext>
                </a:extLst>
              </a:tr>
              <a:tr h="579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7449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67C2B2-5450-6C61-B077-A09106296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282985"/>
              </p:ext>
            </p:extLst>
          </p:nvPr>
        </p:nvGraphicFramePr>
        <p:xfrm>
          <a:off x="677334" y="1179406"/>
          <a:ext cx="522816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8166">
                  <a:extLst>
                    <a:ext uri="{9D8B030D-6E8A-4147-A177-3AD203B41FA5}">
                      <a16:colId xmlns:a16="http://schemas.microsoft.com/office/drawing/2014/main" val="3980403068"/>
                    </a:ext>
                  </a:extLst>
                </a:gridCol>
              </a:tblGrid>
              <a:tr h="313266">
                <a:tc>
                  <a:txBody>
                    <a:bodyPr/>
                    <a:lstStyle/>
                    <a:p>
                      <a:r>
                        <a:rPr lang="en-IN" dirty="0"/>
                        <a:t>Appointment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5067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E78EE8-15A6-ACD8-9348-2DDB82535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981228"/>
              </p:ext>
            </p:extLst>
          </p:nvPr>
        </p:nvGraphicFramePr>
        <p:xfrm>
          <a:off x="6286501" y="1336040"/>
          <a:ext cx="577849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8497">
                  <a:extLst>
                    <a:ext uri="{9D8B030D-6E8A-4147-A177-3AD203B41FA5}">
                      <a16:colId xmlns:a16="http://schemas.microsoft.com/office/drawing/2014/main" val="57530436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dirty="0"/>
                        <a:t>Prescription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409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3922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C1F8-0B9F-94FA-630A-6DFD0C94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9304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rial Black" panose="020B0A04020102020204" pitchFamily="34" charset="0"/>
              </a:rPr>
              <a:t>THIRD NORMAL FORM (3NF)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F86C5D-EFBA-F4CD-1AD7-B6FBF9037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770678"/>
              </p:ext>
            </p:extLst>
          </p:nvPr>
        </p:nvGraphicFramePr>
        <p:xfrm>
          <a:off x="431800" y="1003300"/>
          <a:ext cx="5664200" cy="2717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100">
                  <a:extLst>
                    <a:ext uri="{9D8B030D-6E8A-4147-A177-3AD203B41FA5}">
                      <a16:colId xmlns:a16="http://schemas.microsoft.com/office/drawing/2014/main" val="358003974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2561505295"/>
                    </a:ext>
                  </a:extLst>
                </a:gridCol>
              </a:tblGrid>
              <a:tr h="38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PatientID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448788"/>
                  </a:ext>
                </a:extLst>
              </a:tr>
              <a:tr h="38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213299"/>
                  </a:ext>
                </a:extLst>
              </a:tr>
              <a:tr h="38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385295"/>
                  </a:ext>
                </a:extLst>
              </a:tr>
              <a:tr h="38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977499"/>
                  </a:ext>
                </a:extLst>
              </a:tr>
              <a:tr h="38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135628"/>
                  </a:ext>
                </a:extLst>
              </a:tr>
              <a:tr h="38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278802"/>
                  </a:ext>
                </a:extLst>
              </a:tr>
              <a:tr h="388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Simran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9409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FC9F39-7E7F-C047-C042-0EA1C5043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510339"/>
              </p:ext>
            </p:extLst>
          </p:nvPr>
        </p:nvGraphicFramePr>
        <p:xfrm>
          <a:off x="6341534" y="1092200"/>
          <a:ext cx="5532966" cy="271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322">
                  <a:extLst>
                    <a:ext uri="{9D8B030D-6E8A-4147-A177-3AD203B41FA5}">
                      <a16:colId xmlns:a16="http://schemas.microsoft.com/office/drawing/2014/main" val="1135028032"/>
                    </a:ext>
                  </a:extLst>
                </a:gridCol>
                <a:gridCol w="1844322">
                  <a:extLst>
                    <a:ext uri="{9D8B030D-6E8A-4147-A177-3AD203B41FA5}">
                      <a16:colId xmlns:a16="http://schemas.microsoft.com/office/drawing/2014/main" val="3123171605"/>
                    </a:ext>
                  </a:extLst>
                </a:gridCol>
                <a:gridCol w="1844322">
                  <a:extLst>
                    <a:ext uri="{9D8B030D-6E8A-4147-A177-3AD203B41FA5}">
                      <a16:colId xmlns:a16="http://schemas.microsoft.com/office/drawing/2014/main" val="313051994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DoctorID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DoctorName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56608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10066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860078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Dr.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Orthopedic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11994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Mehta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Neurology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6923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325380-56B4-A82C-A122-05E656E3A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450727"/>
              </p:ext>
            </p:extLst>
          </p:nvPr>
        </p:nvGraphicFramePr>
        <p:xfrm>
          <a:off x="2032001" y="4343400"/>
          <a:ext cx="5689599" cy="2289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533">
                  <a:extLst>
                    <a:ext uri="{9D8B030D-6E8A-4147-A177-3AD203B41FA5}">
                      <a16:colId xmlns:a16="http://schemas.microsoft.com/office/drawing/2014/main" val="1077752586"/>
                    </a:ext>
                  </a:extLst>
                </a:gridCol>
                <a:gridCol w="1896533">
                  <a:extLst>
                    <a:ext uri="{9D8B030D-6E8A-4147-A177-3AD203B41FA5}">
                      <a16:colId xmlns:a16="http://schemas.microsoft.com/office/drawing/2014/main" val="3183093925"/>
                    </a:ext>
                  </a:extLst>
                </a:gridCol>
                <a:gridCol w="1896533">
                  <a:extLst>
                    <a:ext uri="{9D8B030D-6E8A-4147-A177-3AD203B41FA5}">
                      <a16:colId xmlns:a16="http://schemas.microsoft.com/office/drawing/2014/main" val="1022138122"/>
                    </a:ext>
                  </a:extLst>
                </a:gridCol>
              </a:tblGrid>
              <a:tr h="572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RoomID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800219"/>
                  </a:ext>
                </a:extLst>
              </a:tr>
              <a:tr h="572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223276"/>
                  </a:ext>
                </a:extLst>
              </a:tr>
              <a:tr h="572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855900"/>
                  </a:ext>
                </a:extLst>
              </a:tr>
              <a:tr h="572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741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3476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D9C5CD-AEBF-1938-DD06-5D6F47BE1A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805462"/>
              </p:ext>
            </p:extLst>
          </p:nvPr>
        </p:nvGraphicFramePr>
        <p:xfrm>
          <a:off x="558800" y="508116"/>
          <a:ext cx="5041900" cy="3022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50">
                  <a:extLst>
                    <a:ext uri="{9D8B030D-6E8A-4147-A177-3AD203B41FA5}">
                      <a16:colId xmlns:a16="http://schemas.microsoft.com/office/drawing/2014/main" val="3324031677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183994341"/>
                    </a:ext>
                  </a:extLst>
                </a:gridCol>
              </a:tblGrid>
              <a:tr h="503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MedicineID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MedicineName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607639"/>
                  </a:ext>
                </a:extLst>
              </a:tr>
              <a:tr h="503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Paracetamol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689112"/>
                  </a:ext>
                </a:extLst>
              </a:tr>
              <a:tr h="503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Aspirin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792730"/>
                  </a:ext>
                </a:extLst>
              </a:tr>
              <a:tr h="503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Ibuprofen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943979"/>
                  </a:ext>
                </a:extLst>
              </a:tr>
              <a:tr h="503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Cetrizine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036651"/>
                  </a:ext>
                </a:extLst>
              </a:tr>
              <a:tr h="503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Neurobion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4631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99F97C-194F-5189-66B5-1BB4BCC0A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569488"/>
              </p:ext>
            </p:extLst>
          </p:nvPr>
        </p:nvGraphicFramePr>
        <p:xfrm>
          <a:off x="5842000" y="508116"/>
          <a:ext cx="6146799" cy="3085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3852482919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382080478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518146098"/>
                    </a:ext>
                  </a:extLst>
                </a:gridCol>
                <a:gridCol w="2584449">
                  <a:extLst>
                    <a:ext uri="{9D8B030D-6E8A-4147-A177-3AD203B41FA5}">
                      <a16:colId xmlns:a16="http://schemas.microsoft.com/office/drawing/2014/main" val="2786795760"/>
                    </a:ext>
                  </a:extLst>
                </a:gridCol>
              </a:tblGrid>
              <a:tr h="72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AppointmentID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DoctorID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130539"/>
                  </a:ext>
                </a:extLst>
              </a:tr>
              <a:tr h="392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010180"/>
                  </a:ext>
                </a:extLst>
              </a:tr>
              <a:tr h="392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539366"/>
                  </a:ext>
                </a:extLst>
              </a:tr>
              <a:tr h="392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054595"/>
                  </a:ext>
                </a:extLst>
              </a:tr>
              <a:tr h="392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224374"/>
                  </a:ext>
                </a:extLst>
              </a:tr>
              <a:tr h="392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52925"/>
                  </a:ext>
                </a:extLst>
              </a:tr>
              <a:tr h="392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0710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2BEA29-3EDB-B82D-DF21-418833892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352626"/>
              </p:ext>
            </p:extLst>
          </p:nvPr>
        </p:nvGraphicFramePr>
        <p:xfrm>
          <a:off x="1422400" y="3975100"/>
          <a:ext cx="8737600" cy="2768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994004485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1475053804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138489646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1831900734"/>
                    </a:ext>
                  </a:extLst>
                </a:gridCol>
              </a:tblGrid>
              <a:tr h="39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PrescriptionID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AppointmentID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MedicineID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967658"/>
                  </a:ext>
                </a:extLst>
              </a:tr>
              <a:tr h="39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48953"/>
                  </a:ext>
                </a:extLst>
              </a:tr>
              <a:tr h="39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535998"/>
                  </a:ext>
                </a:extLst>
              </a:tr>
              <a:tr h="39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389846"/>
                  </a:ext>
                </a:extLst>
              </a:tr>
              <a:tr h="39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918992"/>
                  </a:ext>
                </a:extLst>
              </a:tr>
              <a:tr h="39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008498"/>
                  </a:ext>
                </a:extLst>
              </a:tr>
              <a:tr h="395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802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1210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5B8A-4037-0E2F-DEFD-C7FE6A2C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90500"/>
            <a:ext cx="8596668" cy="17399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Berlin Sans FB Demi" panose="020E0802020502020306" pitchFamily="34" charset="0"/>
              </a:rPr>
              <a:t>BOYCE-CODD NORMAL FORM (BCNF)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26DA-5146-7F28-D509-ED1CF3F56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16001"/>
            <a:ext cx="8766002" cy="499996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BCNF TABLE STRUCTURE</a:t>
            </a: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BECBF0-55AA-AB34-BB91-FD49D7939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83521"/>
              </p:ext>
            </p:extLst>
          </p:nvPr>
        </p:nvGraphicFramePr>
        <p:xfrm>
          <a:off x="677334" y="1727200"/>
          <a:ext cx="9482664" cy="1996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888">
                  <a:extLst>
                    <a:ext uri="{9D8B030D-6E8A-4147-A177-3AD203B41FA5}">
                      <a16:colId xmlns:a16="http://schemas.microsoft.com/office/drawing/2014/main" val="719701210"/>
                    </a:ext>
                  </a:extLst>
                </a:gridCol>
                <a:gridCol w="3160888">
                  <a:extLst>
                    <a:ext uri="{9D8B030D-6E8A-4147-A177-3AD203B41FA5}">
                      <a16:colId xmlns:a16="http://schemas.microsoft.com/office/drawing/2014/main" val="1614122251"/>
                    </a:ext>
                  </a:extLst>
                </a:gridCol>
                <a:gridCol w="3160888">
                  <a:extLst>
                    <a:ext uri="{9D8B030D-6E8A-4147-A177-3AD203B41FA5}">
                      <a16:colId xmlns:a16="http://schemas.microsoft.com/office/drawing/2014/main" val="4166869597"/>
                    </a:ext>
                  </a:extLst>
                </a:gridCol>
              </a:tblGrid>
              <a:tr h="354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DoctorID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DoctorName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672381"/>
                  </a:ext>
                </a:extLst>
              </a:tr>
              <a:tr h="354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123238"/>
                  </a:ext>
                </a:extLst>
              </a:tr>
              <a:tr h="354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92522"/>
                  </a:ext>
                </a:extLst>
              </a:tr>
              <a:tr h="354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Dr.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Orthopedic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611162"/>
                  </a:ext>
                </a:extLst>
              </a:tr>
              <a:tr h="532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Dr. Mehta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Neurology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89367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09C708-C948-C550-C542-5FF9CE5E6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449623"/>
              </p:ext>
            </p:extLst>
          </p:nvPr>
        </p:nvGraphicFramePr>
        <p:xfrm>
          <a:off x="677334" y="1361440"/>
          <a:ext cx="94826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2664">
                  <a:extLst>
                    <a:ext uri="{9D8B030D-6E8A-4147-A177-3AD203B41FA5}">
                      <a16:colId xmlns:a16="http://schemas.microsoft.com/office/drawing/2014/main" val="2082292278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IN" dirty="0"/>
                        <a:t>Doctor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2171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325A22-605A-81B2-7F26-DED824F67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301995"/>
              </p:ext>
            </p:extLst>
          </p:nvPr>
        </p:nvGraphicFramePr>
        <p:xfrm>
          <a:off x="677334" y="4292600"/>
          <a:ext cx="9723966" cy="2107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1983">
                  <a:extLst>
                    <a:ext uri="{9D8B030D-6E8A-4147-A177-3AD203B41FA5}">
                      <a16:colId xmlns:a16="http://schemas.microsoft.com/office/drawing/2014/main" val="1297055724"/>
                    </a:ext>
                  </a:extLst>
                </a:gridCol>
                <a:gridCol w="4861983">
                  <a:extLst>
                    <a:ext uri="{9D8B030D-6E8A-4147-A177-3AD203B41FA5}">
                      <a16:colId xmlns:a16="http://schemas.microsoft.com/office/drawing/2014/main" val="2537115209"/>
                    </a:ext>
                  </a:extLst>
                </a:gridCol>
              </a:tblGrid>
              <a:tr h="421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Specialization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478587"/>
                  </a:ext>
                </a:extLst>
              </a:tr>
              <a:tr h="421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75166"/>
                  </a:ext>
                </a:extLst>
              </a:tr>
              <a:tr h="421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827435"/>
                  </a:ext>
                </a:extLst>
              </a:tr>
              <a:tr h="421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Orthopedic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214097"/>
                  </a:ext>
                </a:extLst>
              </a:tr>
              <a:tr h="421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82196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91F65F-E9F4-0A08-CD6A-3C5E363B5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495367"/>
              </p:ext>
            </p:extLst>
          </p:nvPr>
        </p:nvGraphicFramePr>
        <p:xfrm>
          <a:off x="677334" y="3926840"/>
          <a:ext cx="972396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3966">
                  <a:extLst>
                    <a:ext uri="{9D8B030D-6E8A-4147-A177-3AD203B41FA5}">
                      <a16:colId xmlns:a16="http://schemas.microsoft.com/office/drawing/2014/main" val="1386015059"/>
                    </a:ext>
                  </a:extLst>
                </a:gridCol>
              </a:tblGrid>
              <a:tr h="203622">
                <a:tc>
                  <a:txBody>
                    <a:bodyPr/>
                    <a:lstStyle/>
                    <a:p>
                      <a:r>
                        <a:rPr lang="en-IN" dirty="0" err="1"/>
                        <a:t>Specialization_room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255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9628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548D-B20F-D82A-048A-42A62FC4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47700"/>
            <a:ext cx="8596668" cy="1320800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tx1"/>
                </a:solidFill>
                <a:latin typeface="Arial Black" panose="020B0A04020102020204" pitchFamily="34" charset="0"/>
              </a:rPr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6E17B9-211C-2A95-545F-25B1FC2F2C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7034" y="1688408"/>
            <a:ext cx="565996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Saves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Reduces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Easy data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Better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Cost effective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Improves decision making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E7186-8206-FE93-2DDE-D9A71686C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1667" l="10000" r="90000">
                        <a14:foregroundMark x1="32222" y1="57222" x2="31111" y2="62778"/>
                        <a14:foregroundMark x1="32222" y1="62778" x2="31667" y2="49444"/>
                        <a14:foregroundMark x1="27222" y1="52778" x2="28889" y2="30000"/>
                        <a14:foregroundMark x1="28889" y1="30000" x2="21111" y2="41111"/>
                        <a14:foregroundMark x1="21111" y1="41111" x2="20556" y2="43333"/>
                        <a14:foregroundMark x1="33333" y1="70000" x2="35556" y2="68333"/>
                        <a14:foregroundMark x1="42222" y1="66111" x2="34444" y2="67778"/>
                        <a14:foregroundMark x1="33889" y1="61667" x2="32222" y2="52778"/>
                        <a14:foregroundMark x1="34444" y1="50000" x2="30000" y2="42778"/>
                        <a14:foregroundMark x1="70000" y1="52778" x2="56667" y2="63333"/>
                        <a14:foregroundMark x1="67778" y1="55556" x2="72778" y2="47778"/>
                        <a14:foregroundMark x1="68333" y1="66667" x2="56667" y2="68889"/>
                        <a14:foregroundMark x1="63889" y1="53889" x2="66667" y2="47222"/>
                        <a14:foregroundMark x1="75000" y1="47222" x2="72778" y2="25000"/>
                        <a14:foregroundMark x1="67222" y1="45556" x2="68889" y2="40556"/>
                        <a14:foregroundMark x1="65556" y1="85556" x2="52222" y2="87222"/>
                        <a14:foregroundMark x1="52222" y1="87222" x2="51111" y2="86667"/>
                        <a14:foregroundMark x1="69444" y1="88333" x2="34444" y2="87778"/>
                        <a14:foregroundMark x1="34444" y1="87778" x2="30000" y2="83333"/>
                        <a14:foregroundMark x1="32222" y1="85000" x2="48333" y2="83333"/>
                        <a14:foregroundMark x1="48333" y1="83333" x2="49444" y2="83333"/>
                        <a14:foregroundMark x1="70556" y1="83889" x2="50000" y2="89444"/>
                        <a14:foregroundMark x1="50000" y1="89444" x2="30556" y2="89444"/>
                        <a14:foregroundMark x1="30556" y1="89444" x2="31667" y2="77222"/>
                        <a14:foregroundMark x1="31667" y1="77222" x2="56111" y2="72778"/>
                        <a14:foregroundMark x1="56111" y1="72778" x2="66667" y2="74444"/>
                        <a14:foregroundMark x1="66667" y1="74444" x2="73333" y2="83889"/>
                        <a14:foregroundMark x1="73333" y1="83889" x2="63889" y2="91111"/>
                        <a14:foregroundMark x1="63889" y1="91111" x2="29444" y2="91667"/>
                        <a14:foregroundMark x1="29444" y1="91667" x2="28889" y2="85556"/>
                        <a14:foregroundMark x1="46667" y1="53333" x2="46667" y2="53333"/>
                        <a14:foregroundMark x1="49444" y1="44444" x2="49444" y2="44444"/>
                        <a14:foregroundMark x1="49444" y1="46111" x2="49444" y2="46111"/>
                        <a14:foregroundMark x1="48333" y1="47778" x2="51667" y2="76667"/>
                        <a14:foregroundMark x1="65000" y1="13333" x2="41111" y2="10556"/>
                        <a14:foregroundMark x1="41111" y1="10556" x2="36111" y2="20000"/>
                        <a14:foregroundMark x1="36111" y1="20000" x2="33333" y2="36667"/>
                        <a14:foregroundMark x1="48889" y1="10000" x2="54444" y2="11667"/>
                        <a14:foregroundMark x1="61667" y1="12222" x2="67222" y2="26667"/>
                        <a14:foregroundMark x1="67222" y1="26667" x2="66667" y2="26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276" y="1230530"/>
            <a:ext cx="7313324" cy="594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995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8570A-DD59-1FF8-3918-584520F12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F349-1765-38B6-C1BA-F0492E85C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734" y="1677989"/>
            <a:ext cx="8596668" cy="3880773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Hospital Management System improves efficiency </a:t>
            </a:r>
          </a:p>
          <a:p>
            <a:r>
              <a:rPr lang="en-US" sz="2800" dirty="0">
                <a:solidFill>
                  <a:schemeClr val="tx1"/>
                </a:solidFill>
              </a:rPr>
              <a:t>Helps in better decision making </a:t>
            </a:r>
          </a:p>
          <a:p>
            <a:r>
              <a:rPr lang="en-US" sz="2800" dirty="0">
                <a:solidFill>
                  <a:schemeClr val="tx1"/>
                </a:solidFill>
              </a:rPr>
              <a:t>Important for modern hospitals </a:t>
            </a:r>
          </a:p>
          <a:p>
            <a:r>
              <a:rPr lang="en-US" sz="2800" dirty="0">
                <a:solidFill>
                  <a:schemeClr val="tx1"/>
                </a:solidFill>
              </a:rPr>
              <a:t>Makes my project effective and practical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98A71-2C07-E2B9-9EA3-E335B2743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200" y="1930400"/>
            <a:ext cx="8373413" cy="533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696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2F04-66AB-58AA-F3EC-1D6B3445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Scope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FAC1B3-838F-35BB-CBC8-7A5607DB3A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4200" y="1203372"/>
            <a:ext cx="735329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" panose="020B0502040204020203" pitchFamily="34" charset="0"/>
              </a:rPr>
              <a:t>Add online appointment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" panose="020B0502040204020203" pitchFamily="34" charset="0"/>
              </a:rPr>
              <a:t>Mobile app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" panose="020B0502040204020203" pitchFamily="34" charset="0"/>
              </a:rPr>
              <a:t>AI-based diagnosis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" panose="020B0502040204020203" pitchFamily="34" charset="0"/>
              </a:rPr>
              <a:t>Online payment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" panose="020B0502040204020203" pitchFamily="34" charset="0"/>
              </a:rPr>
              <a:t>Cloud data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" panose="020B0502040204020203" pitchFamily="34" charset="0"/>
              </a:rPr>
              <a:t>Telemedicine feature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14B348-7B5D-9BE2-2314-E533057EF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0" b="90000" l="10000" r="97300">
                        <a14:foregroundMark x1="59300" y1="36667" x2="58600" y2="39600"/>
                        <a14:foregroundMark x1="89850" y1="90000" x2="97350" y2="88133"/>
                        <a14:foregroundMark x1="93750" y1="49800" x2="92900" y2="40400"/>
                        <a14:foregroundMark x1="95400" y1="47800" x2="93900" y2="21467"/>
                        <a14:foregroundMark x1="61550" y1="12400" x2="55850" y2="9867"/>
                        <a14:foregroundMark x1="55850" y1="9867" x2="53900" y2="6667"/>
                        <a14:foregroundMark x1="49450" y1="2400" x2="59500" y2="200"/>
                        <a14:foregroundMark x1="59500" y1="200" x2="60400" y2="2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998" y="0"/>
            <a:ext cx="9283959" cy="7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85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A7FE-2421-F250-7EF4-49C02B4BB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87500"/>
            <a:ext cx="9152466" cy="1841500"/>
          </a:xfrm>
        </p:spPr>
        <p:txBody>
          <a:bodyPr>
            <a:normAutofit/>
          </a:bodyPr>
          <a:lstStyle/>
          <a:p>
            <a:pPr algn="ctr"/>
            <a:r>
              <a:rPr lang="en-IN" sz="8000" b="1" i="1" dirty="0">
                <a:solidFill>
                  <a:schemeClr val="tx1"/>
                </a:solidFill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8E40B-19CE-E98E-93F6-9EEDF9B27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5556" l="8397" r="93384">
                        <a14:foregroundMark x1="12977" y1="79444" x2="12468" y2="92222"/>
                        <a14:foregroundMark x1="12468" y1="92222" x2="12723" y2="92778"/>
                        <a14:foregroundMark x1="13740" y1="86667" x2="8651" y2="93333"/>
                        <a14:foregroundMark x1="16031" y1="83889" x2="16539" y2="66667"/>
                        <a14:foregroundMark x1="16539" y1="66667" x2="12977" y2="63889"/>
                        <a14:foregroundMark x1="12977" y1="63889" x2="18830" y2="56111"/>
                        <a14:foregroundMark x1="18830" y1="56111" x2="19847" y2="60000"/>
                        <a14:foregroundMark x1="18830" y1="97778" x2="14758" y2="98333"/>
                        <a14:foregroundMark x1="14758" y1="98333" x2="35878" y2="95556"/>
                        <a14:foregroundMark x1="35878" y1="95556" x2="37150" y2="87222"/>
                        <a14:foregroundMark x1="37150" y1="87222" x2="36896" y2="77778"/>
                        <a14:foregroundMark x1="36896" y1="77778" x2="25191" y2="90556"/>
                        <a14:foregroundMark x1="25191" y1="90556" x2="48601" y2="92778"/>
                        <a14:foregroundMark x1="48601" y1="92778" x2="52926" y2="82222"/>
                        <a14:foregroundMark x1="52926" y1="82222" x2="49618" y2="49444"/>
                        <a14:foregroundMark x1="63613" y1="82778" x2="64122" y2="88889"/>
                        <a14:foregroundMark x1="16794" y1="84444" x2="18575" y2="88333"/>
                        <a14:foregroundMark x1="86514" y1="72222" x2="87277" y2="86667"/>
                        <a14:foregroundMark x1="88550" y1="93333" x2="90331" y2="91111"/>
                        <a14:foregroundMark x1="93130" y1="90556" x2="93384" y2="9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5127" y="1676400"/>
            <a:ext cx="12577127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305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476</TotalTime>
  <Words>2398</Words>
  <Application>Microsoft Office PowerPoint</Application>
  <PresentationFormat>Widescreen</PresentationFormat>
  <Paragraphs>1200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Algerian</vt:lpstr>
      <vt:lpstr>Aptos</vt:lpstr>
      <vt:lpstr>Aptos Narrow</vt:lpstr>
      <vt:lpstr>Arial</vt:lpstr>
      <vt:lpstr>Arial Black</vt:lpstr>
      <vt:lpstr>Arial Rounded MT Bold</vt:lpstr>
      <vt:lpstr>Bahnschrift SemiLight</vt:lpstr>
      <vt:lpstr>Berlin Sans FB Demi</vt:lpstr>
      <vt:lpstr>Trebuchet MS</vt:lpstr>
      <vt:lpstr>Wingdings 3</vt:lpstr>
      <vt:lpstr>Facet</vt:lpstr>
      <vt:lpstr>Hospital Management System</vt:lpstr>
      <vt:lpstr>Introduction</vt:lpstr>
      <vt:lpstr>Objective of Project</vt:lpstr>
      <vt:lpstr>Database Used</vt:lpstr>
      <vt:lpstr>Tables in Database</vt:lpstr>
      <vt:lpstr>1.Patient Table</vt:lpstr>
      <vt:lpstr>Patient Table</vt:lpstr>
      <vt:lpstr>PowerPoint Presentation</vt:lpstr>
      <vt:lpstr>2.Doctor Table</vt:lpstr>
      <vt:lpstr>Doctor Table</vt:lpstr>
      <vt:lpstr>PowerPoint Presentation</vt:lpstr>
      <vt:lpstr>3.Staff Table</vt:lpstr>
      <vt:lpstr>Staff Table</vt:lpstr>
      <vt:lpstr>PowerPoint Presentation</vt:lpstr>
      <vt:lpstr>4.Room Table</vt:lpstr>
      <vt:lpstr>Room Table</vt:lpstr>
      <vt:lpstr>PowerPoint Presentation</vt:lpstr>
      <vt:lpstr>5.Appointment Table</vt:lpstr>
      <vt:lpstr>Appointment Table</vt:lpstr>
      <vt:lpstr>PowerPoint Presentation</vt:lpstr>
      <vt:lpstr>6.Admission Table</vt:lpstr>
      <vt:lpstr>Admission Table</vt:lpstr>
      <vt:lpstr>PowerPoint Presentation</vt:lpstr>
      <vt:lpstr>7.Medicine Table</vt:lpstr>
      <vt:lpstr>Medicine Table</vt:lpstr>
      <vt:lpstr>PowerPoint Presentation</vt:lpstr>
      <vt:lpstr>8.Prescription Table</vt:lpstr>
      <vt:lpstr>Prescription Table</vt:lpstr>
      <vt:lpstr>PowerPoint Presentation</vt:lpstr>
      <vt:lpstr>9.Billing Table</vt:lpstr>
      <vt:lpstr>Billing Table</vt:lpstr>
      <vt:lpstr>PowerPoint Presentation</vt:lpstr>
      <vt:lpstr>Entity-Relationship Diagram (ERD)</vt:lpstr>
      <vt:lpstr>PowerPoint Presentation</vt:lpstr>
      <vt:lpstr>SQL Queries</vt:lpstr>
      <vt:lpstr>2.Write an SQL query to display all rooms with charges greater than 3000.</vt:lpstr>
      <vt:lpstr>4.Write an SQL query to display doctors who are not ENT specialists. </vt:lpstr>
      <vt:lpstr>5. Write an SQL query to display all patients sorted by age in descending order. </vt:lpstr>
      <vt:lpstr>PowerPoint Presentation</vt:lpstr>
      <vt:lpstr>6.Write an SQL query to display length of each patient name?</vt:lpstr>
      <vt:lpstr>7.Write an SQL query to display medicines with price between 20 and 100. </vt:lpstr>
      <vt:lpstr>8.Write an SQL query to display patients whose names end with 'n’. </vt:lpstr>
      <vt:lpstr>9.Write an SQL query to find total billing amount. </vt:lpstr>
      <vt:lpstr>10.Write an SQL query to display patient name and room type. </vt:lpstr>
      <vt:lpstr>Normalization</vt:lpstr>
      <vt:lpstr>BEFORE NORMALIZATION TABLE  </vt:lpstr>
      <vt:lpstr>FIRST NORMAL FORM (1NF)</vt:lpstr>
      <vt:lpstr>SECOND NORMAL FORM (2NF)</vt:lpstr>
      <vt:lpstr>THIRD NORMAL FORM (3NF)</vt:lpstr>
      <vt:lpstr>PowerPoint Presentation</vt:lpstr>
      <vt:lpstr>BOYCE-CODD NORMAL FORM (BCNF)</vt:lpstr>
      <vt:lpstr>Advantages</vt:lpstr>
      <vt:lpstr>Conclusion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Solanki</dc:creator>
  <cp:lastModifiedBy>Ayush Solanki</cp:lastModifiedBy>
  <cp:revision>3</cp:revision>
  <dcterms:created xsi:type="dcterms:W3CDTF">2026-04-18T14:31:55Z</dcterms:created>
  <dcterms:modified xsi:type="dcterms:W3CDTF">2026-04-19T18:21:07Z</dcterms:modified>
</cp:coreProperties>
</file>